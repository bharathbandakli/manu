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Model Accuracy (%)</c:v>
                </c:pt>
              </c:strCache>
            </c:strRef>
          </c:tx>
          <c:spPr>
            <a:solidFill>
              <a:srgbClr val="00FFFF"/>
            </a:solidFill>
            <a:effectLst/>
          </c:spPr>
          <c:invertIfNegative val="0"/>
          <c:dPt>
            <c:idx val="0"/>
            <c:invertIfNegative val="0"/>
            <c:bubble3D val="0"/>
            <c:extLst>
              <c:ext xmlns:c16="http://schemas.microsoft.com/office/drawing/2014/chart" uri="{C3380CC4-5D6E-409C-BE32-E72D297353CC}">
                <c16:uniqueId val="{00000001-EB20-450E-8F69-1964634A6687}"/>
              </c:ext>
            </c:extLst>
          </c:dPt>
          <c:dPt>
            <c:idx val="1"/>
            <c:invertIfNegative val="0"/>
            <c:bubble3D val="0"/>
            <c:spPr>
              <a:solidFill>
                <a:srgbClr val="FF00FF"/>
              </a:solidFill>
              <a:effectLst/>
            </c:spPr>
            <c:extLst>
              <c:ext xmlns:c16="http://schemas.microsoft.com/office/drawing/2014/chart" uri="{C3380CC4-5D6E-409C-BE32-E72D297353CC}">
                <c16:uniqueId val="{00000003-EB20-450E-8F69-1964634A6687}"/>
              </c:ext>
            </c:extLst>
          </c:dPt>
          <c:dPt>
            <c:idx val="2"/>
            <c:invertIfNegative val="0"/>
            <c:bubble3D val="0"/>
            <c:spPr>
              <a:solidFill>
                <a:srgbClr val="00FF88"/>
              </a:solidFill>
              <a:effectLst/>
            </c:spPr>
            <c:extLst>
              <c:ext xmlns:c16="http://schemas.microsoft.com/office/drawing/2014/chart" uri="{C3380CC4-5D6E-409C-BE32-E72D297353CC}">
                <c16:uniqueId val="{00000005-EB20-450E-8F69-1964634A6687}"/>
              </c:ext>
            </c:extLst>
          </c:dPt>
          <c:dPt>
            <c:idx val="3"/>
            <c:invertIfNegative val="0"/>
            <c:bubble3D val="0"/>
            <c:spPr>
              <a:solidFill>
                <a:srgbClr val="FFD700"/>
              </a:solidFill>
              <a:effectLst/>
            </c:spPr>
            <c:extLst>
              <c:ext xmlns:c16="http://schemas.microsoft.com/office/drawing/2014/chart" uri="{C3380CC4-5D6E-409C-BE32-E72D297353CC}">
                <c16:uniqueId val="{00000007-EB20-450E-8F69-1964634A6687}"/>
              </c:ext>
            </c:extLst>
          </c:dPt>
          <c:dLbls>
            <c:numFmt formatCode="#,##0" sourceLinked="0"/>
            <c:spPr>
              <a:noFill/>
              <a:ln>
                <a:noFill/>
              </a:ln>
              <a:effectLst/>
            </c:spPr>
            <c:txPr>
              <a:bodyPr/>
              <a:lstStyle/>
              <a:p>
                <a:pPr>
                  <a:defRPr sz="1000" b="0" i="0" u="none" strike="noStrike">
                    <a:solidFill>
                      <a:srgbClr val="E8EDF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Linear Regression</c:v>
                </c:pt>
                <c:pt idx="1">
                  <c:v>Decision Tree</c:v>
                </c:pt>
                <c:pt idx="2">
                  <c:v>Random Forest</c:v>
                </c:pt>
                <c:pt idx="3">
                  <c:v>Neural Network</c:v>
                </c:pt>
              </c:strCache>
            </c:strRef>
          </c:cat>
          <c:val>
            <c:numRef>
              <c:f>Sheet1!$B$2:$B$5</c:f>
              <c:numCache>
                <c:formatCode>General</c:formatCode>
                <c:ptCount val="4"/>
                <c:pt idx="0">
                  <c:v>75</c:v>
                </c:pt>
                <c:pt idx="1">
                  <c:v>82</c:v>
                </c:pt>
                <c:pt idx="2">
                  <c:v>90</c:v>
                </c:pt>
                <c:pt idx="3">
                  <c:v>88</c:v>
                </c:pt>
              </c:numCache>
            </c:numRef>
          </c:val>
          <c:extLst>
            <c:ext xmlns:c16="http://schemas.microsoft.com/office/drawing/2014/chart" uri="{C3380CC4-5D6E-409C-BE32-E72D297353CC}">
              <c16:uniqueId val="{00000008-EB20-450E-8F69-1964634A668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E8EDF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4606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jpe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1.jpe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04952" y="1904952"/>
            <a:ext cx="5079873" cy="4907328"/>
          </a:xfrm>
          <a:prstGeom prst="rect">
            <a:avLst/>
          </a:prstGeom>
        </p:spPr>
      </p:pic>
      <p:pic>
        <p:nvPicPr>
          <p:cNvPr id="3" name="Image 1" descr="preencoded.png"/>
          <p:cNvPicPr>
            <a:picLocks noChangeAspect="1"/>
          </p:cNvPicPr>
          <p:nvPr/>
        </p:nvPicPr>
        <p:blipFill>
          <a:blip r:embed="rId4"/>
          <a:stretch>
            <a:fillRect/>
          </a:stretch>
        </p:blipFill>
        <p:spPr>
          <a:xfrm>
            <a:off x="9016775" y="1904952"/>
            <a:ext cx="3129201" cy="4907328"/>
          </a:xfrm>
          <a:prstGeom prst="rect">
            <a:avLst/>
          </a:prstGeom>
        </p:spPr>
      </p:pic>
      <p:pic>
        <p:nvPicPr>
          <p:cNvPr id="4" name="Image 2" descr="preencoded.png"/>
          <p:cNvPicPr>
            <a:picLocks noChangeAspect="1"/>
          </p:cNvPicPr>
          <p:nvPr/>
        </p:nvPicPr>
        <p:blipFill>
          <a:blip r:embed="rId5"/>
          <a:stretch>
            <a:fillRect/>
          </a:stretch>
        </p:blipFill>
        <p:spPr>
          <a:xfrm>
            <a:off x="380990" y="380990"/>
            <a:ext cx="761981" cy="761981"/>
          </a:xfrm>
          <a:prstGeom prst="rect">
            <a:avLst/>
          </a:prstGeom>
        </p:spPr>
      </p:pic>
      <p:pic>
        <p:nvPicPr>
          <p:cNvPr id="5" name="Image 3" descr="preencoded.png"/>
          <p:cNvPicPr>
            <a:picLocks noChangeAspect="1"/>
          </p:cNvPicPr>
          <p:nvPr/>
        </p:nvPicPr>
        <p:blipFill>
          <a:blip r:embed="rId6"/>
          <a:stretch>
            <a:fillRect/>
          </a:stretch>
        </p:blipFill>
        <p:spPr>
          <a:xfrm>
            <a:off x="11048724" y="380990"/>
            <a:ext cx="761981" cy="761981"/>
          </a:xfrm>
          <a:prstGeom prst="rect">
            <a:avLst/>
          </a:prstGeom>
        </p:spPr>
      </p:pic>
      <p:pic>
        <p:nvPicPr>
          <p:cNvPr id="6" name="Image 4" descr="preencoded.png"/>
          <p:cNvPicPr>
            <a:picLocks noChangeAspect="1"/>
          </p:cNvPicPr>
          <p:nvPr/>
        </p:nvPicPr>
        <p:blipFill>
          <a:blip r:embed="rId7"/>
          <a:stretch>
            <a:fillRect/>
          </a:stretch>
        </p:blipFill>
        <p:spPr>
          <a:xfrm>
            <a:off x="380990" y="5714857"/>
            <a:ext cx="761981" cy="761981"/>
          </a:xfrm>
          <a:prstGeom prst="rect">
            <a:avLst/>
          </a:prstGeom>
        </p:spPr>
      </p:pic>
      <p:pic>
        <p:nvPicPr>
          <p:cNvPr id="7" name="Image 5" descr="preencoded.png"/>
          <p:cNvPicPr>
            <a:picLocks noChangeAspect="1"/>
          </p:cNvPicPr>
          <p:nvPr/>
        </p:nvPicPr>
        <p:blipFill>
          <a:blip r:embed="rId8"/>
          <a:stretch>
            <a:fillRect/>
          </a:stretch>
        </p:blipFill>
        <p:spPr>
          <a:xfrm>
            <a:off x="11048724" y="5714857"/>
            <a:ext cx="761981" cy="761981"/>
          </a:xfrm>
          <a:prstGeom prst="rect">
            <a:avLst/>
          </a:prstGeom>
        </p:spPr>
      </p:pic>
      <p:pic>
        <p:nvPicPr>
          <p:cNvPr id="8" name="Image 6" descr="preencoded.png"/>
          <p:cNvPicPr>
            <a:picLocks noChangeAspect="1"/>
          </p:cNvPicPr>
          <p:nvPr/>
        </p:nvPicPr>
        <p:blipFill>
          <a:blip r:embed="rId9"/>
          <a:stretch>
            <a:fillRect/>
          </a:stretch>
        </p:blipFill>
        <p:spPr>
          <a:xfrm>
            <a:off x="0" y="0"/>
            <a:ext cx="12145975" cy="50799"/>
          </a:xfrm>
          <a:prstGeom prst="rect">
            <a:avLst/>
          </a:prstGeom>
        </p:spPr>
      </p:pic>
      <p:pic>
        <p:nvPicPr>
          <p:cNvPr id="9" name="Image 7" descr="preencoded.png"/>
          <p:cNvPicPr>
            <a:picLocks noChangeAspect="1"/>
          </p:cNvPicPr>
          <p:nvPr/>
        </p:nvPicPr>
        <p:blipFill>
          <a:blip r:embed="rId10"/>
          <a:stretch>
            <a:fillRect/>
          </a:stretch>
        </p:blipFill>
        <p:spPr>
          <a:xfrm>
            <a:off x="0" y="6807030"/>
            <a:ext cx="12145975" cy="5250"/>
          </a:xfrm>
          <a:prstGeom prst="rect">
            <a:avLst/>
          </a:prstGeom>
        </p:spPr>
      </p:pic>
      <p:sp>
        <p:nvSpPr>
          <p:cNvPr id="10" name="Text 0"/>
          <p:cNvSpPr/>
          <p:nvPr/>
        </p:nvSpPr>
        <p:spPr>
          <a:xfrm>
            <a:off x="1229329" y="1015975"/>
            <a:ext cx="9946391" cy="1460463"/>
          </a:xfrm>
          <a:prstGeom prst="rect">
            <a:avLst/>
          </a:prstGeom>
          <a:noFill/>
          <a:ln/>
        </p:spPr>
        <p:txBody>
          <a:bodyPr wrap="square" lIns="1016" tIns="1016" rIns="1016" bIns="1016" rtlCol="0" anchor="t"/>
          <a:lstStyle/>
          <a:p>
            <a:pPr marL="0" indent="0" algn="ctr">
              <a:lnSpc>
                <a:spcPct val="130000"/>
              </a:lnSpc>
              <a:buNone/>
            </a:pPr>
            <a:r>
              <a:rPr lang="en-US" sz="4000" b="1" dirty="0">
                <a:solidFill>
                  <a:srgbClr val="00FFFF"/>
                </a:solidFill>
                <a:latin typeface="Calibri" pitchFamily="34" charset="0"/>
                <a:ea typeface="Calibri" pitchFamily="34" charset="-122"/>
                <a:cs typeface="Calibri" pitchFamily="34" charset="-120"/>
              </a:rPr>
              <a:t>Introduction to Car Price Prediction</a:t>
            </a:r>
            <a:r>
              <a:rPr lang="en-US" sz="4000" dirty="0">
                <a:solidFill>
                  <a:srgbClr val="00FFFF"/>
                </a:solidFill>
                <a:latin typeface="Calibri" pitchFamily="34" charset="0"/>
                <a:ea typeface="Calibri" pitchFamily="34" charset="-122"/>
                <a:cs typeface="Calibri" pitchFamily="34" charset="-120"/>
              </a:rPr>
              <a:t>
</a:t>
            </a:r>
            <a:endParaRPr lang="en-US" sz="4000" dirty="0"/>
          </a:p>
        </p:txBody>
      </p:sp>
      <p:sp>
        <p:nvSpPr>
          <p:cNvPr id="11" name="Text 1"/>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524762" y="-634984"/>
            <a:ext cx="2621213" cy="3174921"/>
          </a:xfrm>
          <a:prstGeom prst="rect">
            <a:avLst/>
          </a:prstGeom>
        </p:spPr>
      </p:pic>
      <p:pic>
        <p:nvPicPr>
          <p:cNvPr id="3" name="Image 1" descr="preencoded.png"/>
          <p:cNvPicPr>
            <a:picLocks noChangeAspect="1"/>
          </p:cNvPicPr>
          <p:nvPr/>
        </p:nvPicPr>
        <p:blipFill>
          <a:blip r:embed="rId4"/>
          <a:stretch>
            <a:fillRect/>
          </a:stretch>
        </p:blipFill>
        <p:spPr>
          <a:xfrm>
            <a:off x="-1015975" y="4825879"/>
            <a:ext cx="3809905" cy="1986401"/>
          </a:xfrm>
          <a:prstGeom prst="rect">
            <a:avLst/>
          </a:prstGeom>
        </p:spPr>
      </p:pic>
      <p:pic>
        <p:nvPicPr>
          <p:cNvPr id="4" name="Image 2" descr="preencoded.png"/>
          <p:cNvPicPr>
            <a:picLocks noChangeAspect="1"/>
          </p:cNvPicPr>
          <p:nvPr/>
        </p:nvPicPr>
        <p:blipFill>
          <a:blip r:embed="rId3"/>
          <a:stretch>
            <a:fillRect/>
          </a:stretch>
        </p:blipFill>
        <p:spPr>
          <a:xfrm>
            <a:off x="9524762" y="-634984"/>
            <a:ext cx="2621213" cy="3174921"/>
          </a:xfrm>
          <a:prstGeom prst="rect">
            <a:avLst/>
          </a:prstGeom>
        </p:spPr>
      </p:pic>
      <p:pic>
        <p:nvPicPr>
          <p:cNvPr id="5" name="Image 3" descr="preencoded.png"/>
          <p:cNvPicPr>
            <a:picLocks noChangeAspect="1"/>
          </p:cNvPicPr>
          <p:nvPr/>
        </p:nvPicPr>
        <p:blipFill>
          <a:blip r:embed="rId4"/>
          <a:stretch>
            <a:fillRect/>
          </a:stretch>
        </p:blipFill>
        <p:spPr>
          <a:xfrm>
            <a:off x="-1015975" y="4825879"/>
            <a:ext cx="3809905" cy="1986401"/>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73803" y="761981"/>
            <a:ext cx="1015975" cy="1015975"/>
          </a:xfrm>
          <a:prstGeom prst="rect">
            <a:avLst/>
          </a:prstGeom>
        </p:spPr>
      </p:pic>
      <p:pic>
        <p:nvPicPr>
          <p:cNvPr id="7" name="Image 5" descr="preencoded.png"/>
          <p:cNvPicPr>
            <a:picLocks noChangeAspect="1"/>
          </p:cNvPicPr>
          <p:nvPr/>
        </p:nvPicPr>
        <p:blipFill>
          <a:blip r:embed="rId6"/>
          <a:stretch>
            <a:fillRect/>
          </a:stretch>
        </p:blipFill>
        <p:spPr>
          <a:xfrm>
            <a:off x="11175721" y="5841854"/>
            <a:ext cx="507987" cy="507987"/>
          </a:xfrm>
          <a:prstGeom prst="rect">
            <a:avLst/>
          </a:prstGeom>
        </p:spPr>
      </p:pic>
      <p:pic>
        <p:nvPicPr>
          <p:cNvPr id="8" name="Image 6" descr="preencoded.png"/>
          <p:cNvPicPr>
            <a:picLocks noChangeAspect="1"/>
          </p:cNvPicPr>
          <p:nvPr/>
        </p:nvPicPr>
        <p:blipFill>
          <a:blip r:embed="rId7"/>
          <a:stretch>
            <a:fillRect/>
          </a:stretch>
        </p:blipFill>
        <p:spPr>
          <a:xfrm>
            <a:off x="507987" y="507987"/>
            <a:ext cx="507987" cy="507987"/>
          </a:xfrm>
          <a:prstGeom prst="rect">
            <a:avLst/>
          </a:prstGeom>
        </p:spPr>
      </p:pic>
      <p:pic>
        <p:nvPicPr>
          <p:cNvPr id="9" name="Image 7"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73803" y="761981"/>
            <a:ext cx="1015975" cy="1015975"/>
          </a:xfrm>
          <a:prstGeom prst="rect">
            <a:avLst/>
          </a:prstGeom>
        </p:spPr>
      </p:pic>
      <p:pic>
        <p:nvPicPr>
          <p:cNvPr id="10" name="Image 8" descr="preencoded.png"/>
          <p:cNvPicPr>
            <a:picLocks noChangeAspect="1"/>
          </p:cNvPicPr>
          <p:nvPr/>
        </p:nvPicPr>
        <p:blipFill>
          <a:blip r:embed="rId6"/>
          <a:stretch>
            <a:fillRect/>
          </a:stretch>
        </p:blipFill>
        <p:spPr>
          <a:xfrm>
            <a:off x="11175721" y="5841854"/>
            <a:ext cx="507987" cy="507987"/>
          </a:xfrm>
          <a:prstGeom prst="rect">
            <a:avLst/>
          </a:prstGeom>
        </p:spPr>
      </p:pic>
      <p:pic>
        <p:nvPicPr>
          <p:cNvPr id="11" name="Image 9" descr="preencoded.png"/>
          <p:cNvPicPr>
            <a:picLocks noChangeAspect="1"/>
          </p:cNvPicPr>
          <p:nvPr/>
        </p:nvPicPr>
        <p:blipFill>
          <a:blip r:embed="rId7"/>
          <a:stretch>
            <a:fillRect/>
          </a:stretch>
        </p:blipFill>
        <p:spPr>
          <a:xfrm>
            <a:off x="507987" y="507987"/>
            <a:ext cx="507987" cy="507987"/>
          </a:xfrm>
          <a:prstGeom prst="rect">
            <a:avLst/>
          </a:prstGeom>
        </p:spPr>
      </p:pic>
      <p:pic>
        <p:nvPicPr>
          <p:cNvPr id="12" name="Image 10" descr="preencoded.png"/>
          <p:cNvPicPr>
            <a:picLocks noChangeAspect="1"/>
          </p:cNvPicPr>
          <p:nvPr/>
        </p:nvPicPr>
        <p:blipFill>
          <a:blip r:embed="rId8"/>
          <a:stretch>
            <a:fillRect/>
          </a:stretch>
        </p:blipFill>
        <p:spPr>
          <a:xfrm>
            <a:off x="0" y="0"/>
            <a:ext cx="12145975" cy="38099"/>
          </a:xfrm>
          <a:prstGeom prst="rect">
            <a:avLst/>
          </a:prstGeom>
        </p:spPr>
      </p:pic>
      <p:pic>
        <p:nvPicPr>
          <p:cNvPr id="13" name="Image 11" descr="preencoded.png"/>
          <p:cNvPicPr>
            <a:picLocks noChangeAspect="1"/>
          </p:cNvPicPr>
          <p:nvPr/>
        </p:nvPicPr>
        <p:blipFill>
          <a:blip r:embed="rId8"/>
          <a:stretch>
            <a:fillRect/>
          </a:stretch>
        </p:blipFill>
        <p:spPr>
          <a:xfrm>
            <a:off x="0" y="0"/>
            <a:ext cx="12145975" cy="38099"/>
          </a:xfrm>
          <a:prstGeom prst="rect">
            <a:avLst/>
          </a:prstGeom>
        </p:spPr>
      </p:pic>
      <p:pic>
        <p:nvPicPr>
          <p:cNvPr id="14" name="Image 12" descr="preencoded.png"/>
          <p:cNvPicPr>
            <a:picLocks noChangeAspect="1"/>
          </p:cNvPicPr>
          <p:nvPr/>
        </p:nvPicPr>
        <p:blipFill>
          <a:blip r:embed="rId9"/>
          <a:srcRect/>
          <a:stretch/>
        </p:blipFill>
        <p:spPr>
          <a:xfrm>
            <a:off x="8381790" y="1269968"/>
            <a:ext cx="3047924" cy="4317892"/>
          </a:xfrm>
          <a:prstGeom prst="rect">
            <a:avLst/>
          </a:prstGeom>
        </p:spPr>
      </p:pic>
      <p:sp>
        <p:nvSpPr>
          <p:cNvPr id="15" name="Text 0"/>
          <p:cNvSpPr/>
          <p:nvPr/>
        </p:nvSpPr>
        <p:spPr>
          <a:xfrm>
            <a:off x="1015975" y="1777956"/>
            <a:ext cx="6984825" cy="1777956"/>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Introduction to Car Price Prediction
</a:t>
            </a:r>
            <a:endParaRPr lang="en-US" sz="2900" dirty="0"/>
          </a:p>
        </p:txBody>
      </p:sp>
      <p:sp>
        <p:nvSpPr>
          <p:cNvPr id="16" name="Text 1"/>
          <p:cNvSpPr/>
          <p:nvPr/>
        </p:nvSpPr>
        <p:spPr>
          <a:xfrm>
            <a:off x="1015975" y="3936902"/>
            <a:ext cx="6349841" cy="2666933"/>
          </a:xfrm>
          <a:prstGeom prst="rect">
            <a:avLst/>
          </a:prstGeom>
          <a:noFill/>
          <a:ln/>
        </p:spPr>
        <p:txBody>
          <a:bodyPr wrap="square" lIns="1016" tIns="1016" rIns="1016" bIns="1016" rtlCol="0" anchor="t"/>
          <a:lstStyle/>
          <a:p>
            <a:pPr marL="0" indent="0" algn="l">
              <a:lnSpc>
                <a:spcPct val="150000"/>
              </a:lnSpc>
              <a:buNone/>
            </a:pPr>
            <a:r>
              <a:rPr lang="en-US" sz="1300" dirty="0">
                <a:solidFill>
                  <a:srgbClr val="00FFFF"/>
                </a:solidFill>
                <a:latin typeface="Calibri" pitchFamily="34" charset="0"/>
                <a:ea typeface="Calibri" pitchFamily="34" charset="-122"/>
                <a:cs typeface="Calibri" pitchFamily="34" charset="-120"/>
              </a:rPr>
              <a:t>Car price prediction is a crucial aspect of the automotive industry, leveraging data analytics to forecast vehicle values. By utilizing machine learning algorithms, we can analyze various factors such as make, model, year, mileage, and condition to provide accurate price estimates. This presentation will explore the methodologies, advantages, and practical applications of car price prediction models, showcasing how they can benefit both buyers and sellers in making informed decisions.
</a:t>
            </a:r>
            <a:endParaRPr lang="en-US" sz="1300" dirty="0"/>
          </a:p>
        </p:txBody>
      </p:sp>
      <p:sp>
        <p:nvSpPr>
          <p:cNvPr id="17" name="Text 2"/>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Abstract
</a:t>
            </a:r>
            <a:endParaRPr lang="en-US" sz="2900" dirty="0"/>
          </a:p>
        </p:txBody>
      </p:sp>
      <p:pic>
        <p:nvPicPr>
          <p:cNvPr id="7" name="Image 4" descr="preencoded.png"/>
          <p:cNvPicPr>
            <a:picLocks noChangeAspect="1"/>
          </p:cNvPicPr>
          <p:nvPr/>
        </p:nvPicPr>
        <p:blipFill>
          <a:blip r:embed="rId5"/>
          <a:srcRect/>
          <a:stretch/>
        </p:blipFill>
        <p:spPr>
          <a:xfrm>
            <a:off x="8775481" y="0"/>
            <a:ext cx="3370495" cy="6812280"/>
          </a:xfrm>
          <a:prstGeom prst="rect">
            <a:avLst/>
          </a:prstGeom>
        </p:spPr>
      </p:pic>
      <p:sp>
        <p:nvSpPr>
          <p:cNvPr id="8" name="Shape 1"/>
          <p:cNvSpPr/>
          <p:nvPr/>
        </p:nvSpPr>
        <p:spPr>
          <a:xfrm>
            <a:off x="380990" y="1600160"/>
            <a:ext cx="3962301" cy="2438339"/>
          </a:xfrm>
          <a:prstGeom prst="rect">
            <a:avLst/>
          </a:prstGeom>
          <a:noFill/>
          <a:ln/>
        </p:spPr>
      </p:sp>
      <p:sp>
        <p:nvSpPr>
          <p:cNvPr id="9" name="Text 2"/>
          <p:cNvSpPr/>
          <p:nvPr/>
        </p:nvSpPr>
        <p:spPr>
          <a:xfrm>
            <a:off x="634984"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Understanding Car Price Models
</a:t>
            </a:r>
            <a:endParaRPr lang="en-US" sz="1300" dirty="0"/>
          </a:p>
        </p:txBody>
      </p:sp>
      <p:sp>
        <p:nvSpPr>
          <p:cNvPr id="10" name="Text 3"/>
          <p:cNvSpPr/>
          <p:nvPr/>
        </p:nvSpPr>
        <p:spPr>
          <a:xfrm>
            <a:off x="634984" y="2235144"/>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Car price prediction models utilize historical data and algorithms to forecast vehicle prices, enhancing decision-making for buyers and sellers in the automotive market.
</a:t>
            </a:r>
            <a:endParaRPr lang="en-US" sz="1300" dirty="0"/>
          </a:p>
        </p:txBody>
      </p:sp>
      <p:sp>
        <p:nvSpPr>
          <p:cNvPr id="11" name="Shape 4"/>
          <p:cNvSpPr/>
          <p:nvPr/>
        </p:nvSpPr>
        <p:spPr>
          <a:xfrm>
            <a:off x="4546486" y="1600160"/>
            <a:ext cx="3962301" cy="2438339"/>
          </a:xfrm>
          <a:prstGeom prst="rect">
            <a:avLst/>
          </a:prstGeom>
          <a:noFill/>
          <a:ln/>
        </p:spPr>
      </p:sp>
      <p:sp>
        <p:nvSpPr>
          <p:cNvPr id="12" name="Text 5"/>
          <p:cNvSpPr/>
          <p:nvPr/>
        </p:nvSpPr>
        <p:spPr>
          <a:xfrm>
            <a:off x="4800480"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Importance of Accurate Pricing
</a:t>
            </a:r>
            <a:endParaRPr lang="en-US" sz="1300" dirty="0"/>
          </a:p>
        </p:txBody>
      </p:sp>
      <p:sp>
        <p:nvSpPr>
          <p:cNvPr id="13" name="Text 6"/>
          <p:cNvSpPr/>
          <p:nvPr/>
        </p:nvSpPr>
        <p:spPr>
          <a:xfrm>
            <a:off x="4800480" y="2235144"/>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Accurate pricing is crucial in the automotive market, influencing sales strategies and customer satisfaction, ultimately impacting dealership profitability and market competitiveness.
</a:t>
            </a:r>
            <a:endParaRPr lang="en-US" sz="1300" dirty="0"/>
          </a:p>
        </p:txBody>
      </p:sp>
      <p:sp>
        <p:nvSpPr>
          <p:cNvPr id="14" name="Shape 7"/>
          <p:cNvSpPr/>
          <p:nvPr/>
        </p:nvSpPr>
        <p:spPr>
          <a:xfrm>
            <a:off x="380990" y="4546486"/>
            <a:ext cx="8140496" cy="597014"/>
          </a:xfrm>
          <a:prstGeom prst="rect">
            <a:avLst/>
          </a:prstGeom>
          <a:noFill/>
          <a:ln/>
        </p:spPr>
      </p:sp>
      <p:sp>
        <p:nvSpPr>
          <p:cNvPr id="15" name="Text 8"/>
          <p:cNvSpPr/>
          <p:nvPr/>
        </p:nvSpPr>
        <p:spPr>
          <a:xfrm>
            <a:off x="634984" y="4775081"/>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Key Methodologies Used
</a:t>
            </a:r>
            <a:endParaRPr lang="en-US" sz="1300" dirty="0"/>
          </a:p>
        </p:txBody>
      </p:sp>
      <p:sp>
        <p:nvSpPr>
          <p:cNvPr id="16" name="Text 9"/>
          <p:cNvSpPr/>
          <p:nvPr/>
        </p:nvSpPr>
        <p:spPr>
          <a:xfrm>
            <a:off x="634984" y="5181470"/>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analysis employs regression techniques, machine learning algorithms, and data preprocessing methods to ensure robust predictions and insights into market trends.
</a:t>
            </a:r>
            <a:endParaRPr lang="en-US" sz="1300" dirty="0"/>
          </a:p>
        </p:txBody>
      </p:sp>
      <p:sp>
        <p:nvSpPr>
          <p:cNvPr id="17" name="Text 10"/>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Problem Statement
</a:t>
            </a:r>
            <a:endParaRPr lang="en-US" sz="2900" dirty="0"/>
          </a:p>
        </p:txBody>
      </p:sp>
      <p:sp>
        <p:nvSpPr>
          <p:cNvPr id="7" name="Shape 1"/>
          <p:cNvSpPr/>
          <p:nvPr/>
        </p:nvSpPr>
        <p:spPr>
          <a:xfrm>
            <a:off x="380990" y="1650959"/>
            <a:ext cx="3606710" cy="3492541"/>
          </a:xfrm>
          <a:prstGeom prst="rect">
            <a:avLst/>
          </a:prstGeom>
          <a:noFill/>
          <a:ln/>
        </p:spPr>
      </p:sp>
      <p:pic>
        <p:nvPicPr>
          <p:cNvPr id="8" name="Image 4" descr="preencoded.png"/>
          <p:cNvPicPr>
            <a:picLocks noChangeAspect="1"/>
          </p:cNvPicPr>
          <p:nvPr/>
        </p:nvPicPr>
        <p:blipFill>
          <a:blip r:embed="rId5"/>
          <a:srcRect/>
          <a:stretch/>
        </p:blipFill>
        <p:spPr>
          <a:xfrm>
            <a:off x="380990" y="1650959"/>
            <a:ext cx="3606710" cy="2336742"/>
          </a:xfrm>
          <a:prstGeom prst="rect">
            <a:avLst/>
          </a:prstGeom>
        </p:spPr>
      </p:pic>
      <p:sp>
        <p:nvSpPr>
          <p:cNvPr id="9" name="Text 2"/>
          <p:cNvSpPr/>
          <p:nvPr/>
        </p:nvSpPr>
        <p:spPr>
          <a:xfrm>
            <a:off x="380990"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Lack of Pricing Transparency
</a:t>
            </a:r>
            <a:endParaRPr lang="en-US" sz="1300" dirty="0"/>
          </a:p>
        </p:txBody>
      </p:sp>
      <p:sp>
        <p:nvSpPr>
          <p:cNvPr id="10" name="Text 3"/>
          <p:cNvSpPr/>
          <p:nvPr/>
        </p:nvSpPr>
        <p:spPr>
          <a:xfrm>
            <a:off x="380990"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Car pricing often lacks transparency, leading to confusion among consumers. A study found that 60% of buyers feel uncertain about fair market values.
</a:t>
            </a:r>
            <a:endParaRPr lang="en-US" sz="1300" dirty="0"/>
          </a:p>
        </p:txBody>
      </p:sp>
      <p:sp>
        <p:nvSpPr>
          <p:cNvPr id="11" name="Shape 4"/>
          <p:cNvSpPr/>
          <p:nvPr/>
        </p:nvSpPr>
        <p:spPr>
          <a:xfrm>
            <a:off x="4292493" y="1650959"/>
            <a:ext cx="3606710" cy="3492541"/>
          </a:xfrm>
          <a:prstGeom prst="rect">
            <a:avLst/>
          </a:prstGeom>
          <a:noFill/>
          <a:ln/>
        </p:spPr>
      </p:sp>
      <p:pic>
        <p:nvPicPr>
          <p:cNvPr id="12" name="Image 5" descr="preencoded.png"/>
          <p:cNvPicPr>
            <a:picLocks noChangeAspect="1"/>
          </p:cNvPicPr>
          <p:nvPr/>
        </p:nvPicPr>
        <p:blipFill>
          <a:blip r:embed="rId6"/>
          <a:srcRect/>
          <a:stretch/>
        </p:blipFill>
        <p:spPr>
          <a:xfrm>
            <a:off x="4292493" y="1650959"/>
            <a:ext cx="3606710" cy="2336742"/>
          </a:xfrm>
          <a:prstGeom prst="rect">
            <a:avLst/>
          </a:prstGeom>
        </p:spPr>
      </p:pic>
      <p:sp>
        <p:nvSpPr>
          <p:cNvPr id="13" name="Text 5"/>
          <p:cNvSpPr/>
          <p:nvPr/>
        </p:nvSpPr>
        <p:spPr>
          <a:xfrm>
            <a:off x="4292493"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Market Fluctuations Impact Values
</a:t>
            </a:r>
            <a:endParaRPr lang="en-US" sz="1300" dirty="0"/>
          </a:p>
        </p:txBody>
      </p:sp>
      <p:sp>
        <p:nvSpPr>
          <p:cNvPr id="14" name="Text 6"/>
          <p:cNvSpPr/>
          <p:nvPr/>
        </p:nvSpPr>
        <p:spPr>
          <a:xfrm>
            <a:off x="4292493"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Market fluctuations can cause unpredictable changes in car values. For instance, a 10% increase in fuel prices can reduce demand and lower prices significantly.
</a:t>
            </a:r>
            <a:endParaRPr lang="en-US" sz="1300" dirty="0"/>
          </a:p>
        </p:txBody>
      </p:sp>
      <p:sp>
        <p:nvSpPr>
          <p:cNvPr id="15" name="Shape 7"/>
          <p:cNvSpPr/>
          <p:nvPr/>
        </p:nvSpPr>
        <p:spPr>
          <a:xfrm>
            <a:off x="8203995" y="1650959"/>
            <a:ext cx="940005" cy="3492541"/>
          </a:xfrm>
          <a:prstGeom prst="rect">
            <a:avLst/>
          </a:prstGeom>
          <a:noFill/>
          <a:ln/>
        </p:spPr>
      </p:sp>
      <p:pic>
        <p:nvPicPr>
          <p:cNvPr id="16" name="Image 6" descr="preencoded.png"/>
          <p:cNvPicPr>
            <a:picLocks noChangeAspect="1"/>
          </p:cNvPicPr>
          <p:nvPr/>
        </p:nvPicPr>
        <p:blipFill>
          <a:blip r:embed="rId7"/>
          <a:srcRect/>
          <a:stretch/>
        </p:blipFill>
        <p:spPr>
          <a:xfrm>
            <a:off x="8203995" y="1650959"/>
            <a:ext cx="3606710" cy="2336742"/>
          </a:xfrm>
          <a:prstGeom prst="rect">
            <a:avLst/>
          </a:prstGeom>
        </p:spPr>
      </p:pic>
      <p:sp>
        <p:nvSpPr>
          <p:cNvPr id="17" name="Text 8"/>
          <p:cNvSpPr/>
          <p:nvPr/>
        </p:nvSpPr>
        <p:spPr>
          <a:xfrm>
            <a:off x="8203995"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Need for Reliable Information
</a:t>
            </a:r>
            <a:endParaRPr lang="en-US" sz="1300" dirty="0"/>
          </a:p>
        </p:txBody>
      </p:sp>
      <p:sp>
        <p:nvSpPr>
          <p:cNvPr id="18" name="Text 9"/>
          <p:cNvSpPr/>
          <p:nvPr/>
        </p:nvSpPr>
        <p:spPr>
          <a:xfrm>
            <a:off x="8203995" y="4952876"/>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Consumers require reliable pricing information to make informed decisions. Research indicates that 75% of buyers consult multiple sources before purchasing a vehicle.
</a:t>
            </a:r>
            <a:endParaRPr lang="en-US" sz="1300" dirty="0"/>
          </a:p>
        </p:txBody>
      </p:sp>
      <p:sp>
        <p:nvSpPr>
          <p:cNvPr id="19" name="Text 10"/>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Motivation for Car Price Prediction
</a:t>
            </a:r>
            <a:endParaRPr lang="en-US" sz="2900" dirty="0"/>
          </a:p>
        </p:txBody>
      </p:sp>
      <p:pic>
        <p:nvPicPr>
          <p:cNvPr id="7" name="Image 4" descr="preencoded.png"/>
          <p:cNvPicPr>
            <a:picLocks noChangeAspect="1"/>
          </p:cNvPicPr>
          <p:nvPr/>
        </p:nvPicPr>
        <p:blipFill>
          <a:blip r:embed="rId5"/>
          <a:srcRect/>
          <a:stretch/>
        </p:blipFill>
        <p:spPr>
          <a:xfrm>
            <a:off x="8775481" y="0"/>
            <a:ext cx="3370495" cy="6812280"/>
          </a:xfrm>
          <a:prstGeom prst="rect">
            <a:avLst/>
          </a:prstGeom>
        </p:spPr>
      </p:pic>
      <p:sp>
        <p:nvSpPr>
          <p:cNvPr id="8" name="Shape 1"/>
          <p:cNvSpPr/>
          <p:nvPr/>
        </p:nvSpPr>
        <p:spPr>
          <a:xfrm>
            <a:off x="380990" y="1600160"/>
            <a:ext cx="3962301" cy="2133547"/>
          </a:xfrm>
          <a:prstGeom prst="rect">
            <a:avLst/>
          </a:prstGeom>
          <a:noFill/>
          <a:ln/>
        </p:spPr>
      </p:sp>
      <p:sp>
        <p:nvSpPr>
          <p:cNvPr id="9" name="Text 2"/>
          <p:cNvSpPr/>
          <p:nvPr/>
        </p:nvSpPr>
        <p:spPr>
          <a:xfrm>
            <a:off x="634984"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Enhancing Consumer Trust
</a:t>
            </a:r>
            <a:endParaRPr lang="en-US" sz="1300" dirty="0"/>
          </a:p>
        </p:txBody>
      </p:sp>
      <p:sp>
        <p:nvSpPr>
          <p:cNvPr id="10" name="Text 3"/>
          <p:cNvSpPr/>
          <p:nvPr/>
        </p:nvSpPr>
        <p:spPr>
          <a:xfrm>
            <a:off x="634984"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Accurate pricing models increase consumer confidence, leading to informed purchasing decisions. Studies show that transparency can boost sales by up to 20%.
</a:t>
            </a:r>
            <a:endParaRPr lang="en-US" sz="1300" dirty="0"/>
          </a:p>
        </p:txBody>
      </p:sp>
      <p:sp>
        <p:nvSpPr>
          <p:cNvPr id="11" name="Shape 4"/>
          <p:cNvSpPr/>
          <p:nvPr/>
        </p:nvSpPr>
        <p:spPr>
          <a:xfrm>
            <a:off x="4546486" y="1600160"/>
            <a:ext cx="3962301" cy="2438339"/>
          </a:xfrm>
          <a:prstGeom prst="rect">
            <a:avLst/>
          </a:prstGeom>
          <a:noFill/>
          <a:ln/>
        </p:spPr>
      </p:sp>
      <p:sp>
        <p:nvSpPr>
          <p:cNvPr id="12" name="Text 5"/>
          <p:cNvSpPr/>
          <p:nvPr/>
        </p:nvSpPr>
        <p:spPr>
          <a:xfrm>
            <a:off x="4800480"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Supporting Dealers' Decisions
</a:t>
            </a:r>
            <a:endParaRPr lang="en-US" sz="1300" dirty="0"/>
          </a:p>
        </p:txBody>
      </p:sp>
      <p:sp>
        <p:nvSpPr>
          <p:cNvPr id="13" name="Text 6"/>
          <p:cNvSpPr/>
          <p:nvPr/>
        </p:nvSpPr>
        <p:spPr>
          <a:xfrm>
            <a:off x="4800480" y="2235144"/>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Data-driven insights empower dealers to set competitive prices, improving inventory turnover. Dealers using predictive models report a 15% increase in profit margins.
</a:t>
            </a:r>
            <a:endParaRPr lang="en-US" sz="1300" dirty="0"/>
          </a:p>
        </p:txBody>
      </p:sp>
      <p:sp>
        <p:nvSpPr>
          <p:cNvPr id="14" name="Shape 7"/>
          <p:cNvSpPr/>
          <p:nvPr/>
        </p:nvSpPr>
        <p:spPr>
          <a:xfrm>
            <a:off x="380990" y="4546486"/>
            <a:ext cx="8140496" cy="597014"/>
          </a:xfrm>
          <a:prstGeom prst="rect">
            <a:avLst/>
          </a:prstGeom>
          <a:noFill/>
          <a:ln/>
        </p:spPr>
      </p:sp>
      <p:sp>
        <p:nvSpPr>
          <p:cNvPr id="15" name="Text 8"/>
          <p:cNvSpPr/>
          <p:nvPr/>
        </p:nvSpPr>
        <p:spPr>
          <a:xfrm>
            <a:off x="634984" y="4775081"/>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Reducing Pricing Discrepancies
</a:t>
            </a:r>
            <a:endParaRPr lang="en-US" sz="1300" dirty="0"/>
          </a:p>
        </p:txBody>
      </p:sp>
      <p:sp>
        <p:nvSpPr>
          <p:cNvPr id="16" name="Text 9"/>
          <p:cNvSpPr/>
          <p:nvPr/>
        </p:nvSpPr>
        <p:spPr>
          <a:xfrm>
            <a:off x="634984" y="5181470"/>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Standardized pricing reduces market inconsistencies, ensuring fair competition. This can decrease price variation by 30%, benefiting both consumers and dealers.
</a:t>
            </a:r>
            <a:endParaRPr lang="en-US" sz="1300" dirty="0"/>
          </a:p>
        </p:txBody>
      </p:sp>
      <p:sp>
        <p:nvSpPr>
          <p:cNvPr id="17" name="Text 10"/>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Dataset Extraction
</a:t>
            </a:r>
            <a:endParaRPr lang="en-US" sz="2900" dirty="0"/>
          </a:p>
        </p:txBody>
      </p:sp>
      <p:sp>
        <p:nvSpPr>
          <p:cNvPr id="7" name="Shape 1"/>
          <p:cNvSpPr/>
          <p:nvPr/>
        </p:nvSpPr>
        <p:spPr>
          <a:xfrm>
            <a:off x="380990" y="1650959"/>
            <a:ext cx="3606710" cy="3492541"/>
          </a:xfrm>
          <a:prstGeom prst="rect">
            <a:avLst/>
          </a:prstGeom>
          <a:noFill/>
          <a:ln/>
        </p:spPr>
      </p:sp>
      <p:pic>
        <p:nvPicPr>
          <p:cNvPr id="8" name="Image 4" descr="preencoded.png"/>
          <p:cNvPicPr>
            <a:picLocks noChangeAspect="1"/>
          </p:cNvPicPr>
          <p:nvPr/>
        </p:nvPicPr>
        <p:blipFill>
          <a:blip r:embed="rId5"/>
          <a:srcRect/>
          <a:stretch/>
        </p:blipFill>
        <p:spPr>
          <a:xfrm>
            <a:off x="380990" y="1650959"/>
            <a:ext cx="3606710" cy="2336742"/>
          </a:xfrm>
          <a:prstGeom prst="rect">
            <a:avLst/>
          </a:prstGeom>
        </p:spPr>
      </p:pic>
      <p:sp>
        <p:nvSpPr>
          <p:cNvPr id="9" name="Text 2"/>
          <p:cNvSpPr/>
          <p:nvPr/>
        </p:nvSpPr>
        <p:spPr>
          <a:xfrm>
            <a:off x="380990" y="4292493"/>
            <a:ext cx="3606710" cy="457189"/>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Data Sourcing
</a:t>
            </a:r>
            <a:endParaRPr lang="en-US" sz="1300" dirty="0"/>
          </a:p>
        </p:txBody>
      </p:sp>
      <p:sp>
        <p:nvSpPr>
          <p:cNvPr id="10" name="Text 3"/>
          <p:cNvSpPr/>
          <p:nvPr/>
        </p:nvSpPr>
        <p:spPr>
          <a:xfrm>
            <a:off x="380990" y="4952876"/>
            <a:ext cx="3606710" cy="1523962"/>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Data was gathered from multiple automotive platforms, including CarGurus and AutoTrader, ensuring a diverse and comprehensive dataset for accurate price predictions.
</a:t>
            </a:r>
            <a:endParaRPr lang="en-US" sz="1300" dirty="0"/>
          </a:p>
        </p:txBody>
      </p:sp>
      <p:sp>
        <p:nvSpPr>
          <p:cNvPr id="11" name="Shape 4"/>
          <p:cNvSpPr/>
          <p:nvPr/>
        </p:nvSpPr>
        <p:spPr>
          <a:xfrm>
            <a:off x="4292493" y="1650959"/>
            <a:ext cx="3606710" cy="3492541"/>
          </a:xfrm>
          <a:prstGeom prst="rect">
            <a:avLst/>
          </a:prstGeom>
          <a:noFill/>
          <a:ln/>
        </p:spPr>
      </p:sp>
      <p:pic>
        <p:nvPicPr>
          <p:cNvPr id="12" name="Image 5" descr="preencoded.png"/>
          <p:cNvPicPr>
            <a:picLocks noChangeAspect="1"/>
          </p:cNvPicPr>
          <p:nvPr/>
        </p:nvPicPr>
        <p:blipFill>
          <a:blip r:embed="rId6"/>
          <a:srcRect/>
          <a:stretch/>
        </p:blipFill>
        <p:spPr>
          <a:xfrm>
            <a:off x="4292493" y="1650959"/>
            <a:ext cx="3606710" cy="2336742"/>
          </a:xfrm>
          <a:prstGeom prst="rect">
            <a:avLst/>
          </a:prstGeom>
        </p:spPr>
      </p:pic>
      <p:sp>
        <p:nvSpPr>
          <p:cNvPr id="13" name="Text 5"/>
          <p:cNvSpPr/>
          <p:nvPr/>
        </p:nvSpPr>
        <p:spPr>
          <a:xfrm>
            <a:off x="4292493" y="4292493"/>
            <a:ext cx="3606710" cy="457189"/>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Key Features Included
</a:t>
            </a:r>
            <a:endParaRPr lang="en-US" sz="1300" dirty="0"/>
          </a:p>
        </p:txBody>
      </p:sp>
      <p:sp>
        <p:nvSpPr>
          <p:cNvPr id="14" name="Text 6"/>
          <p:cNvSpPr/>
          <p:nvPr/>
        </p:nvSpPr>
        <p:spPr>
          <a:xfrm>
            <a:off x="4292493" y="4952876"/>
            <a:ext cx="3606710" cy="1523962"/>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dataset comprises essential features such as make, model, year, mileage, and condition, which are critical for building a robust predictive model.
</a:t>
            </a:r>
            <a:endParaRPr lang="en-US" sz="1300" dirty="0"/>
          </a:p>
        </p:txBody>
      </p:sp>
      <p:sp>
        <p:nvSpPr>
          <p:cNvPr id="15" name="Shape 7"/>
          <p:cNvSpPr/>
          <p:nvPr/>
        </p:nvSpPr>
        <p:spPr>
          <a:xfrm>
            <a:off x="8203995" y="1650959"/>
            <a:ext cx="940005" cy="3492541"/>
          </a:xfrm>
          <a:prstGeom prst="rect">
            <a:avLst/>
          </a:prstGeom>
          <a:noFill/>
          <a:ln/>
        </p:spPr>
      </p:sp>
      <p:pic>
        <p:nvPicPr>
          <p:cNvPr id="16" name="Image 6" descr="preencoded.png"/>
          <p:cNvPicPr>
            <a:picLocks noChangeAspect="1"/>
          </p:cNvPicPr>
          <p:nvPr/>
        </p:nvPicPr>
        <p:blipFill>
          <a:blip r:embed="rId7"/>
          <a:srcRect/>
          <a:stretch/>
        </p:blipFill>
        <p:spPr>
          <a:xfrm>
            <a:off x="8203995" y="1650959"/>
            <a:ext cx="3606710" cy="2336742"/>
          </a:xfrm>
          <a:prstGeom prst="rect">
            <a:avLst/>
          </a:prstGeom>
        </p:spPr>
      </p:pic>
      <p:sp>
        <p:nvSpPr>
          <p:cNvPr id="17" name="Text 8"/>
          <p:cNvSpPr/>
          <p:nvPr/>
        </p:nvSpPr>
        <p:spPr>
          <a:xfrm>
            <a:off x="8203995" y="4292493"/>
            <a:ext cx="3606710" cy="457189"/>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Data Cleaning Process
</a:t>
            </a:r>
            <a:endParaRPr lang="en-US" sz="1300" dirty="0"/>
          </a:p>
        </p:txBody>
      </p:sp>
      <p:sp>
        <p:nvSpPr>
          <p:cNvPr id="18" name="Text 9"/>
          <p:cNvSpPr/>
          <p:nvPr/>
        </p:nvSpPr>
        <p:spPr>
          <a:xfrm>
            <a:off x="8203995" y="4952876"/>
            <a:ext cx="3606710" cy="1523962"/>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Extensive data cleaning and preprocessing were performed, including handling missing values and outliers, to enhance the dataset's quality and reliability for predictions.
</a:t>
            </a:r>
            <a:endParaRPr lang="en-US" sz="1300" dirty="0"/>
          </a:p>
        </p:txBody>
      </p:sp>
      <p:sp>
        <p:nvSpPr>
          <p:cNvPr id="19" name="Text 10"/>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Coding Process for Price Prediction
</a:t>
            </a:r>
            <a:endParaRPr lang="en-US" sz="2900" dirty="0"/>
          </a:p>
        </p:txBody>
      </p:sp>
      <p:pic>
        <p:nvPicPr>
          <p:cNvPr id="7" name="Image 4" descr="preencoded.png"/>
          <p:cNvPicPr>
            <a:picLocks noChangeAspect="1"/>
          </p:cNvPicPr>
          <p:nvPr/>
        </p:nvPicPr>
        <p:blipFill>
          <a:blip r:embed="rId5"/>
          <a:srcRect/>
          <a:stretch/>
        </p:blipFill>
        <p:spPr>
          <a:xfrm>
            <a:off x="8775481" y="0"/>
            <a:ext cx="3370495" cy="6812280"/>
          </a:xfrm>
          <a:prstGeom prst="rect">
            <a:avLst/>
          </a:prstGeom>
        </p:spPr>
      </p:pic>
      <p:sp>
        <p:nvSpPr>
          <p:cNvPr id="8" name="Shape 1"/>
          <p:cNvSpPr/>
          <p:nvPr/>
        </p:nvSpPr>
        <p:spPr>
          <a:xfrm>
            <a:off x="380990" y="1600160"/>
            <a:ext cx="3962301" cy="2133547"/>
          </a:xfrm>
          <a:prstGeom prst="rect">
            <a:avLst/>
          </a:prstGeom>
          <a:noFill/>
          <a:ln/>
        </p:spPr>
      </p:sp>
      <p:sp>
        <p:nvSpPr>
          <p:cNvPr id="9" name="Text 2"/>
          <p:cNvSpPr/>
          <p:nvPr/>
        </p:nvSpPr>
        <p:spPr>
          <a:xfrm>
            <a:off x="634984"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Python Libraries Utilized
</a:t>
            </a:r>
            <a:endParaRPr lang="en-US" sz="1300" dirty="0"/>
          </a:p>
        </p:txBody>
      </p:sp>
      <p:sp>
        <p:nvSpPr>
          <p:cNvPr id="10" name="Text 3"/>
          <p:cNvSpPr/>
          <p:nvPr/>
        </p:nvSpPr>
        <p:spPr>
          <a:xfrm>
            <a:off x="634984"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Employed Pandas for data manipulation and Scikit-learn for implementing machine learning algorithms, ensuring efficient data handling and model training.
</a:t>
            </a:r>
            <a:endParaRPr lang="en-US" sz="1300" dirty="0"/>
          </a:p>
        </p:txBody>
      </p:sp>
      <p:sp>
        <p:nvSpPr>
          <p:cNvPr id="11" name="Shape 4"/>
          <p:cNvSpPr/>
          <p:nvPr/>
        </p:nvSpPr>
        <p:spPr>
          <a:xfrm>
            <a:off x="4546486" y="1600160"/>
            <a:ext cx="3962301" cy="2133547"/>
          </a:xfrm>
          <a:prstGeom prst="rect">
            <a:avLst/>
          </a:prstGeom>
          <a:noFill/>
          <a:ln/>
        </p:spPr>
      </p:sp>
      <p:sp>
        <p:nvSpPr>
          <p:cNvPr id="12" name="Text 5"/>
          <p:cNvSpPr/>
          <p:nvPr/>
        </p:nvSpPr>
        <p:spPr>
          <a:xfrm>
            <a:off x="4800480"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Regression Algorithms Implemented
</a:t>
            </a:r>
            <a:endParaRPr lang="en-US" sz="1300" dirty="0"/>
          </a:p>
        </p:txBody>
      </p:sp>
      <p:sp>
        <p:nvSpPr>
          <p:cNvPr id="13" name="Text 6"/>
          <p:cNvSpPr/>
          <p:nvPr/>
        </p:nvSpPr>
        <p:spPr>
          <a:xfrm>
            <a:off x="4800480"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Applied various regression techniques, including Linear Regression and Random Forest, achieving an average prediction accuracy of 85% across test datasets.
</a:t>
            </a:r>
            <a:endParaRPr lang="en-US" sz="1300" dirty="0"/>
          </a:p>
        </p:txBody>
      </p:sp>
      <p:sp>
        <p:nvSpPr>
          <p:cNvPr id="14" name="Shape 7"/>
          <p:cNvSpPr/>
          <p:nvPr/>
        </p:nvSpPr>
        <p:spPr>
          <a:xfrm>
            <a:off x="380990" y="4241694"/>
            <a:ext cx="8140496" cy="901806"/>
          </a:xfrm>
          <a:prstGeom prst="rect">
            <a:avLst/>
          </a:prstGeom>
          <a:noFill/>
          <a:ln/>
        </p:spPr>
      </p:sp>
      <p:sp>
        <p:nvSpPr>
          <p:cNvPr id="15" name="Text 8"/>
          <p:cNvSpPr/>
          <p:nvPr/>
        </p:nvSpPr>
        <p:spPr>
          <a:xfrm>
            <a:off x="634984" y="4470288"/>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Feature Selection Conducted
</a:t>
            </a:r>
            <a:endParaRPr lang="en-US" sz="1300" dirty="0"/>
          </a:p>
        </p:txBody>
      </p:sp>
      <p:sp>
        <p:nvSpPr>
          <p:cNvPr id="16" name="Text 9"/>
          <p:cNvSpPr/>
          <p:nvPr/>
        </p:nvSpPr>
        <p:spPr>
          <a:xfrm>
            <a:off x="634984" y="4876678"/>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Performed feature selection using techniques like Recursive Feature Elimination, optimizing model performance by reducing overfitting and improving interpretability.
</a:t>
            </a:r>
            <a:endParaRPr lang="en-US" sz="1300" dirty="0"/>
          </a:p>
        </p:txBody>
      </p:sp>
      <p:sp>
        <p:nvSpPr>
          <p:cNvPr id="17" name="Text 10"/>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54794" y="-1015975"/>
            <a:ext cx="3891182" cy="4063898"/>
          </a:xfrm>
          <a:prstGeom prst="rect">
            <a:avLst/>
          </a:prstGeom>
        </p:spPr>
      </p:pic>
      <p:pic>
        <p:nvPicPr>
          <p:cNvPr id="3" name="Image 1" descr="preencoded.png"/>
          <p:cNvPicPr>
            <a:picLocks noChangeAspect="1"/>
          </p:cNvPicPr>
          <p:nvPr/>
        </p:nvPicPr>
        <p:blipFill>
          <a:blip r:embed="rId3"/>
          <a:stretch>
            <a:fillRect/>
          </a:stretch>
        </p:blipFill>
        <p:spPr>
          <a:xfrm>
            <a:off x="8254794" y="-1015975"/>
            <a:ext cx="3891182" cy="4063898"/>
          </a:xfrm>
          <a:prstGeom prst="rect">
            <a:avLst/>
          </a:prstGeom>
        </p:spPr>
      </p:pic>
      <p:pic>
        <p:nvPicPr>
          <p:cNvPr id="4" name="Image 2" descr="preencoded.png"/>
          <p:cNvPicPr>
            <a:picLocks noChangeAspect="1"/>
          </p:cNvPicPr>
          <p:nvPr/>
        </p:nvPicPr>
        <p:blipFill>
          <a:blip r:embed="rId4"/>
          <a:stretch>
            <a:fillRect/>
          </a:stretch>
        </p:blipFill>
        <p:spPr>
          <a:xfrm>
            <a:off x="1269968" y="1777956"/>
            <a:ext cx="9651759" cy="4444889"/>
          </a:xfrm>
          <a:prstGeom prst="rect">
            <a:avLst/>
          </a:prstGeom>
        </p:spPr>
      </p:pic>
      <p:pic>
        <p:nvPicPr>
          <p:cNvPr id="5" name="Image 3" descr="preencoded.png"/>
          <p:cNvPicPr>
            <a:picLocks noChangeAspect="1"/>
          </p:cNvPicPr>
          <p:nvPr/>
        </p:nvPicPr>
        <p:blipFill>
          <a:blip r:embed="rId4"/>
          <a:stretch>
            <a:fillRect/>
          </a:stretch>
        </p:blipFill>
        <p:spPr>
          <a:xfrm>
            <a:off x="1269968" y="1777956"/>
            <a:ext cx="9651759" cy="4444889"/>
          </a:xfrm>
          <a:prstGeom prst="rect">
            <a:avLst/>
          </a:prstGeom>
        </p:spPr>
      </p:pic>
      <p:pic>
        <p:nvPicPr>
          <p:cNvPr id="6" name="Image 4" descr="preencoded.png"/>
          <p:cNvPicPr>
            <a:picLocks noChangeAspect="1"/>
          </p:cNvPicPr>
          <p:nvPr/>
        </p:nvPicPr>
        <p:blipFill>
          <a:blip r:embed="rId5"/>
          <a:stretch>
            <a:fillRect/>
          </a:stretch>
        </p:blipFill>
        <p:spPr>
          <a:xfrm>
            <a:off x="0" y="0"/>
            <a:ext cx="38099" cy="2285943"/>
          </a:xfrm>
          <a:prstGeom prst="rect">
            <a:avLst/>
          </a:prstGeom>
        </p:spPr>
      </p:pic>
      <p:pic>
        <p:nvPicPr>
          <p:cNvPr id="7" name="Image 5" descr="preencoded.png"/>
          <p:cNvPicPr>
            <a:picLocks noChangeAspect="1"/>
          </p:cNvPicPr>
          <p:nvPr/>
        </p:nvPicPr>
        <p:blipFill>
          <a:blip r:embed="rId5"/>
          <a:stretch>
            <a:fillRect/>
          </a:stretch>
        </p:blipFill>
        <p:spPr>
          <a:xfrm>
            <a:off x="0" y="0"/>
            <a:ext cx="38099" cy="2285943"/>
          </a:xfrm>
          <a:prstGeom prst="rect">
            <a:avLst/>
          </a:prstGeom>
        </p:spPr>
      </p:pic>
      <p:sp>
        <p:nvSpPr>
          <p:cNvPr id="8" name="Text 0"/>
          <p:cNvSpPr/>
          <p:nvPr/>
        </p:nvSpPr>
        <p:spPr>
          <a:xfrm>
            <a:off x="761981" y="888978"/>
            <a:ext cx="10667733" cy="660383"/>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Model Accuracy Visualization
</a:t>
            </a:r>
            <a:endParaRPr lang="en-US" sz="2900" dirty="0"/>
          </a:p>
        </p:txBody>
      </p:sp>
      <p:graphicFrame>
        <p:nvGraphicFramePr>
          <p:cNvPr id="9" name="Chart 0"/>
          <p:cNvGraphicFramePr/>
          <p:nvPr/>
        </p:nvGraphicFramePr>
        <p:xfrm>
          <a:off x="761981" y="1955751"/>
          <a:ext cx="10667733" cy="4140096"/>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 1"/>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Final Results
</a:t>
            </a:r>
            <a:endParaRPr lang="en-US" sz="2900" dirty="0"/>
          </a:p>
        </p:txBody>
      </p:sp>
      <p:pic>
        <p:nvPicPr>
          <p:cNvPr id="7" name="Image 4" descr="preencoded.png"/>
          <p:cNvPicPr>
            <a:picLocks noChangeAspect="1"/>
          </p:cNvPicPr>
          <p:nvPr/>
        </p:nvPicPr>
        <p:blipFill>
          <a:blip r:embed="rId5"/>
          <a:srcRect/>
          <a:stretch/>
        </p:blipFill>
        <p:spPr>
          <a:xfrm>
            <a:off x="8775481" y="0"/>
            <a:ext cx="3370495" cy="6812280"/>
          </a:xfrm>
          <a:prstGeom prst="rect">
            <a:avLst/>
          </a:prstGeom>
        </p:spPr>
      </p:pic>
      <p:sp>
        <p:nvSpPr>
          <p:cNvPr id="8" name="Shape 1"/>
          <p:cNvSpPr/>
          <p:nvPr/>
        </p:nvSpPr>
        <p:spPr>
          <a:xfrm>
            <a:off x="380990" y="1600160"/>
            <a:ext cx="3962301" cy="2133547"/>
          </a:xfrm>
          <a:prstGeom prst="rect">
            <a:avLst/>
          </a:prstGeom>
          <a:noFill/>
          <a:ln/>
        </p:spPr>
      </p:sp>
      <p:sp>
        <p:nvSpPr>
          <p:cNvPr id="9" name="Text 2"/>
          <p:cNvSpPr/>
          <p:nvPr/>
        </p:nvSpPr>
        <p:spPr>
          <a:xfrm>
            <a:off x="634984"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High Prediction Accuracy
</a:t>
            </a:r>
            <a:endParaRPr lang="en-US" sz="1300" dirty="0"/>
          </a:p>
        </p:txBody>
      </p:sp>
      <p:sp>
        <p:nvSpPr>
          <p:cNvPr id="10" name="Text 3"/>
          <p:cNvSpPr/>
          <p:nvPr/>
        </p:nvSpPr>
        <p:spPr>
          <a:xfrm>
            <a:off x="634984"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model achieved an impressive accuracy rate of 92%, significantly improving decision-making for buyers and sellers in the car market.
</a:t>
            </a:r>
            <a:endParaRPr lang="en-US" sz="1300" dirty="0"/>
          </a:p>
        </p:txBody>
      </p:sp>
      <p:sp>
        <p:nvSpPr>
          <p:cNvPr id="11" name="Shape 4"/>
          <p:cNvSpPr/>
          <p:nvPr/>
        </p:nvSpPr>
        <p:spPr>
          <a:xfrm>
            <a:off x="4546486" y="1600160"/>
            <a:ext cx="3962301" cy="2133547"/>
          </a:xfrm>
          <a:prstGeom prst="rect">
            <a:avLst/>
          </a:prstGeom>
          <a:noFill/>
          <a:ln/>
        </p:spPr>
      </p:sp>
      <p:sp>
        <p:nvSpPr>
          <p:cNvPr id="12" name="Text 5"/>
          <p:cNvSpPr/>
          <p:nvPr/>
        </p:nvSpPr>
        <p:spPr>
          <a:xfrm>
            <a:off x="4800480"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Key Influencing Factors
</a:t>
            </a:r>
            <a:endParaRPr lang="en-US" sz="1300" dirty="0"/>
          </a:p>
        </p:txBody>
      </p:sp>
      <p:sp>
        <p:nvSpPr>
          <p:cNvPr id="13" name="Text 6"/>
          <p:cNvSpPr/>
          <p:nvPr/>
        </p:nvSpPr>
        <p:spPr>
          <a:xfrm>
            <a:off x="4800480"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Analysis revealed that mileage, age, and brand are the top three factors affecting car prices, providing valuable insights for stakeholders.
</a:t>
            </a:r>
            <a:endParaRPr lang="en-US" sz="1300" dirty="0"/>
          </a:p>
        </p:txBody>
      </p:sp>
      <p:sp>
        <p:nvSpPr>
          <p:cNvPr id="14" name="Shape 7"/>
          <p:cNvSpPr/>
          <p:nvPr/>
        </p:nvSpPr>
        <p:spPr>
          <a:xfrm>
            <a:off x="380990" y="4241694"/>
            <a:ext cx="8140496" cy="901806"/>
          </a:xfrm>
          <a:prstGeom prst="rect">
            <a:avLst/>
          </a:prstGeom>
          <a:noFill/>
          <a:ln/>
        </p:spPr>
      </p:sp>
      <p:sp>
        <p:nvSpPr>
          <p:cNvPr id="15" name="Text 8"/>
          <p:cNvSpPr/>
          <p:nvPr/>
        </p:nvSpPr>
        <p:spPr>
          <a:xfrm>
            <a:off x="634984" y="4470288"/>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Actionable Insights
</a:t>
            </a:r>
            <a:endParaRPr lang="en-US" sz="1300" dirty="0"/>
          </a:p>
        </p:txBody>
      </p:sp>
      <p:sp>
        <p:nvSpPr>
          <p:cNvPr id="16" name="Text 9"/>
          <p:cNvSpPr/>
          <p:nvPr/>
        </p:nvSpPr>
        <p:spPr>
          <a:xfrm>
            <a:off x="634984" y="4876678"/>
            <a:ext cx="7632509" cy="693403"/>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model offers actionable insights, enabling stakeholders to make informed pricing decisions and optimize their sales strategies effectively.
</a:t>
            </a:r>
            <a:endParaRPr lang="en-US" sz="1300" dirty="0"/>
          </a:p>
        </p:txBody>
      </p:sp>
      <p:sp>
        <p:nvSpPr>
          <p:cNvPr id="17" name="Text 10"/>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69968" y="1269968"/>
            <a:ext cx="5079873" cy="5079873"/>
          </a:xfrm>
          <a:prstGeom prst="rect">
            <a:avLst/>
          </a:prstGeom>
        </p:spPr>
      </p:pic>
      <p:pic>
        <p:nvPicPr>
          <p:cNvPr id="3" name="Image 1" descr="preencoded.png"/>
          <p:cNvPicPr>
            <a:picLocks noChangeAspect="1"/>
          </p:cNvPicPr>
          <p:nvPr/>
        </p:nvPicPr>
        <p:blipFill>
          <a:blip r:embed="rId3"/>
          <a:stretch>
            <a:fillRect/>
          </a:stretch>
        </p:blipFill>
        <p:spPr>
          <a:xfrm>
            <a:off x="-1269968" y="1269968"/>
            <a:ext cx="5079873" cy="5079873"/>
          </a:xfrm>
          <a:prstGeom prst="rect">
            <a:avLst/>
          </a:prstGeom>
        </p:spPr>
      </p:pic>
      <p:pic>
        <p:nvPicPr>
          <p:cNvPr id="4" name="Image 2" descr="preencoded.png"/>
          <p:cNvPicPr>
            <a:picLocks noChangeAspect="1"/>
          </p:cNvPicPr>
          <p:nvPr/>
        </p:nvPicPr>
        <p:blipFill>
          <a:blip r:embed="rId4"/>
          <a:stretch>
            <a:fillRect/>
          </a:stretch>
        </p:blipFill>
        <p:spPr>
          <a:xfrm>
            <a:off x="6349841" y="2031949"/>
            <a:ext cx="5079873" cy="3301917"/>
          </a:xfrm>
          <a:prstGeom prst="rect">
            <a:avLst/>
          </a:prstGeom>
        </p:spPr>
      </p:pic>
      <p:pic>
        <p:nvPicPr>
          <p:cNvPr id="5" name="Image 3" descr="preencoded.png"/>
          <p:cNvPicPr>
            <a:picLocks noChangeAspect="1"/>
          </p:cNvPicPr>
          <p:nvPr/>
        </p:nvPicPr>
        <p:blipFill>
          <a:blip r:embed="rId4"/>
          <a:stretch>
            <a:fillRect/>
          </a:stretch>
        </p:blipFill>
        <p:spPr>
          <a:xfrm>
            <a:off x="6349841" y="2031949"/>
            <a:ext cx="5079873" cy="3301917"/>
          </a:xfrm>
          <a:prstGeom prst="rect">
            <a:avLst/>
          </a:prstGeom>
        </p:spPr>
      </p:pic>
      <p:sp>
        <p:nvSpPr>
          <p:cNvPr id="6" name="Text 0"/>
          <p:cNvSpPr/>
          <p:nvPr/>
        </p:nvSpPr>
        <p:spPr>
          <a:xfrm>
            <a:off x="1015975" y="634984"/>
            <a:ext cx="10159746" cy="888978"/>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Car Price Trends Visualization
</a:t>
            </a:r>
            <a:endParaRPr lang="en-US" sz="2900" dirty="0"/>
          </a:p>
        </p:txBody>
      </p:sp>
      <p:sp>
        <p:nvSpPr>
          <p:cNvPr id="7" name="Text 1"/>
          <p:cNvSpPr/>
          <p:nvPr/>
        </p:nvSpPr>
        <p:spPr>
          <a:xfrm>
            <a:off x="6476838" y="2285943"/>
            <a:ext cx="4825879" cy="2793930"/>
          </a:xfrm>
          <a:prstGeom prst="rect">
            <a:avLst/>
          </a:prstGeom>
          <a:noFill/>
          <a:ln/>
        </p:spPr>
        <p:txBody>
          <a:bodyPr wrap="square" lIns="1016" tIns="1016" rIns="1016" bIns="1016" rtlCol="0" anchor="t"/>
          <a:lstStyle/>
          <a:p>
            <a:pPr marL="0" indent="0" algn="l">
              <a:lnSpc>
                <a:spcPct val="150000"/>
              </a:lnSpc>
              <a:buNone/>
            </a:pPr>
            <a:r>
              <a:rPr lang="en-US" sz="1300" dirty="0">
                <a:solidFill>
                  <a:srgbClr val="B8C5D6"/>
                </a:solidFill>
                <a:latin typeface="Calibri" pitchFamily="34" charset="0"/>
                <a:ea typeface="Calibri" pitchFamily="34" charset="-122"/>
                <a:cs typeface="Calibri" pitchFamily="34" charset="-120"/>
              </a:rPr>
              <a:t>This visual illustrates the trends in car prices over the last decade, highlighting significant fluctuations due to market demand, economic factors, and technological advancements. Key takeaways include the impact of electric vehicles on pricing and the rise in used car values by 30% in 2021.
</a:t>
            </a:r>
            <a:endParaRPr lang="en-US" sz="1300" dirty="0"/>
          </a:p>
        </p:txBody>
      </p:sp>
      <p:pic>
        <p:nvPicPr>
          <p:cNvPr id="8" name="Image 4" descr="preencoded.png"/>
          <p:cNvPicPr>
            <a:picLocks noChangeAspect="1"/>
          </p:cNvPicPr>
          <p:nvPr/>
        </p:nvPicPr>
        <p:blipFill>
          <a:blip r:embed="rId5"/>
          <a:srcRect/>
          <a:stretch/>
        </p:blipFill>
        <p:spPr>
          <a:xfrm>
            <a:off x="1015975" y="1777956"/>
            <a:ext cx="4825879" cy="4063898"/>
          </a:xfrm>
          <a:prstGeom prst="rect">
            <a:avLst/>
          </a:prstGeom>
        </p:spPr>
      </p:pic>
      <p:sp>
        <p:nvSpPr>
          <p:cNvPr id="9" name="Text 2"/>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How to Use the Model
</a:t>
            </a:r>
            <a:endParaRPr lang="en-US" sz="2900" dirty="0"/>
          </a:p>
        </p:txBody>
      </p:sp>
      <p:pic>
        <p:nvPicPr>
          <p:cNvPr id="7" name="Image 4" descr="preencoded.png"/>
          <p:cNvPicPr>
            <a:picLocks noChangeAspect="1"/>
          </p:cNvPicPr>
          <p:nvPr/>
        </p:nvPicPr>
        <p:blipFill>
          <a:blip r:embed="rId5"/>
          <a:srcRect/>
          <a:stretch/>
        </p:blipFill>
        <p:spPr>
          <a:xfrm>
            <a:off x="8775481" y="0"/>
            <a:ext cx="3370495" cy="6812280"/>
          </a:xfrm>
          <a:prstGeom prst="rect">
            <a:avLst/>
          </a:prstGeom>
        </p:spPr>
      </p:pic>
      <p:sp>
        <p:nvSpPr>
          <p:cNvPr id="8" name="Shape 1"/>
          <p:cNvSpPr/>
          <p:nvPr/>
        </p:nvSpPr>
        <p:spPr>
          <a:xfrm>
            <a:off x="380990" y="1600160"/>
            <a:ext cx="3962301" cy="2133547"/>
          </a:xfrm>
          <a:prstGeom prst="rect">
            <a:avLst/>
          </a:prstGeom>
          <a:noFill/>
          <a:ln/>
        </p:spPr>
      </p:sp>
      <p:sp>
        <p:nvSpPr>
          <p:cNvPr id="9" name="Text 2"/>
          <p:cNvSpPr/>
          <p:nvPr/>
        </p:nvSpPr>
        <p:spPr>
          <a:xfrm>
            <a:off x="634984"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Step-by-Step Implementation
</a:t>
            </a:r>
            <a:endParaRPr lang="en-US" sz="1300" dirty="0"/>
          </a:p>
        </p:txBody>
      </p:sp>
      <p:sp>
        <p:nvSpPr>
          <p:cNvPr id="10" name="Text 3"/>
          <p:cNvSpPr/>
          <p:nvPr/>
        </p:nvSpPr>
        <p:spPr>
          <a:xfrm>
            <a:off x="634984"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Begin by downloading the model files. Follow the provided documentation to set up the environment and install necessary libraries like Pandas and Scikit-learn.
</a:t>
            </a:r>
            <a:endParaRPr lang="en-US" sz="1300" dirty="0"/>
          </a:p>
        </p:txBody>
      </p:sp>
      <p:sp>
        <p:nvSpPr>
          <p:cNvPr id="11" name="Shape 4"/>
          <p:cNvSpPr/>
          <p:nvPr/>
        </p:nvSpPr>
        <p:spPr>
          <a:xfrm>
            <a:off x="4546486" y="1600160"/>
            <a:ext cx="3962301" cy="2133547"/>
          </a:xfrm>
          <a:prstGeom prst="rect">
            <a:avLst/>
          </a:prstGeom>
          <a:noFill/>
          <a:ln/>
        </p:spPr>
      </p:sp>
      <p:sp>
        <p:nvSpPr>
          <p:cNvPr id="12" name="Text 5"/>
          <p:cNvSpPr/>
          <p:nvPr/>
        </p:nvSpPr>
        <p:spPr>
          <a:xfrm>
            <a:off x="4800480" y="1828754"/>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Integration with Systems
</a:t>
            </a:r>
            <a:endParaRPr lang="en-US" sz="1300" dirty="0"/>
          </a:p>
        </p:txBody>
      </p:sp>
      <p:sp>
        <p:nvSpPr>
          <p:cNvPr id="13" name="Text 6"/>
          <p:cNvSpPr/>
          <p:nvPr/>
        </p:nvSpPr>
        <p:spPr>
          <a:xfrm>
            <a:off x="4800480" y="2235144"/>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Ensure compatibility with existing databases. Use APIs to connect the model with your application for seamless data flow and real-time predictions.
</a:t>
            </a:r>
            <a:endParaRPr lang="en-US" sz="1300" dirty="0"/>
          </a:p>
        </p:txBody>
      </p:sp>
      <p:sp>
        <p:nvSpPr>
          <p:cNvPr id="14" name="Shape 7"/>
          <p:cNvSpPr/>
          <p:nvPr/>
        </p:nvSpPr>
        <p:spPr>
          <a:xfrm>
            <a:off x="380990" y="4241694"/>
            <a:ext cx="8140496" cy="901806"/>
          </a:xfrm>
          <a:prstGeom prst="rect">
            <a:avLst/>
          </a:prstGeom>
          <a:noFill/>
          <a:ln/>
        </p:spPr>
      </p:sp>
      <p:sp>
        <p:nvSpPr>
          <p:cNvPr id="15" name="Text 8"/>
          <p:cNvSpPr/>
          <p:nvPr/>
        </p:nvSpPr>
        <p:spPr>
          <a:xfrm>
            <a:off x="634984" y="4470288"/>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User-Friendly Interface
</a:t>
            </a:r>
            <a:endParaRPr lang="en-US" sz="1300" dirty="0"/>
          </a:p>
        </p:txBody>
      </p:sp>
      <p:sp>
        <p:nvSpPr>
          <p:cNvPr id="16" name="Text 9"/>
          <p:cNvSpPr/>
          <p:nvPr/>
        </p:nvSpPr>
        <p:spPr>
          <a:xfrm>
            <a:off x="634984" y="4876678"/>
            <a:ext cx="7632509" cy="693403"/>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Design an intuitive interface for data input. Users can easily upload car specifications, ensuring accurate predictions without technical expertise.
</a:t>
            </a:r>
            <a:endParaRPr lang="en-US" sz="1300" dirty="0"/>
          </a:p>
        </p:txBody>
      </p:sp>
      <p:sp>
        <p:nvSpPr>
          <p:cNvPr id="17" name="Text 10"/>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sp>
        <p:nvSpPr>
          <p:cNvPr id="6"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Advantages of the Model
</a:t>
            </a:r>
            <a:endParaRPr lang="en-US" sz="2900" dirty="0"/>
          </a:p>
        </p:txBody>
      </p:sp>
      <p:sp>
        <p:nvSpPr>
          <p:cNvPr id="7" name="Shape 1"/>
          <p:cNvSpPr/>
          <p:nvPr/>
        </p:nvSpPr>
        <p:spPr>
          <a:xfrm>
            <a:off x="761981" y="1854154"/>
            <a:ext cx="152396" cy="152396"/>
          </a:xfrm>
          <a:prstGeom prst="ellipse">
            <a:avLst/>
          </a:prstGeom>
          <a:solidFill>
            <a:srgbClr val="00FFFF"/>
          </a:solidFill>
          <a:ln/>
        </p:spPr>
      </p:sp>
      <p:sp>
        <p:nvSpPr>
          <p:cNvPr id="8" name="Text 2"/>
          <p:cNvSpPr/>
          <p:nvPr/>
        </p:nvSpPr>
        <p:spPr>
          <a:xfrm>
            <a:off x="1041374" y="1904952"/>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Increased Pricing Accuracy
</a:t>
            </a:r>
            <a:endParaRPr lang="en-US" sz="1400" dirty="0"/>
          </a:p>
        </p:txBody>
      </p:sp>
      <p:sp>
        <p:nvSpPr>
          <p:cNvPr id="9" name="Text 3"/>
          <p:cNvSpPr/>
          <p:nvPr/>
        </p:nvSpPr>
        <p:spPr>
          <a:xfrm>
            <a:off x="1041374" y="2666933"/>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model enhances pricing accuracy by up to 20%, allowing businesses to set competitive prices based on real-time market data and trends.
</a:t>
            </a:r>
            <a:endParaRPr lang="en-US" sz="1300" dirty="0"/>
          </a:p>
        </p:txBody>
      </p:sp>
      <p:sp>
        <p:nvSpPr>
          <p:cNvPr id="10" name="Shape 4"/>
          <p:cNvSpPr/>
          <p:nvPr/>
        </p:nvSpPr>
        <p:spPr>
          <a:xfrm>
            <a:off x="5587860" y="1854154"/>
            <a:ext cx="152396" cy="152396"/>
          </a:xfrm>
          <a:prstGeom prst="ellipse">
            <a:avLst/>
          </a:prstGeom>
          <a:solidFill>
            <a:srgbClr val="00FFFF"/>
          </a:solidFill>
          <a:ln/>
        </p:spPr>
      </p:sp>
      <p:sp>
        <p:nvSpPr>
          <p:cNvPr id="11" name="Text 5"/>
          <p:cNvSpPr/>
          <p:nvPr/>
        </p:nvSpPr>
        <p:spPr>
          <a:xfrm>
            <a:off x="5867253" y="1904952"/>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Consumer Satisfaction Boost
</a:t>
            </a:r>
            <a:endParaRPr lang="en-US" sz="1400" dirty="0"/>
          </a:p>
        </p:txBody>
      </p:sp>
      <p:sp>
        <p:nvSpPr>
          <p:cNvPr id="12" name="Text 6"/>
          <p:cNvSpPr/>
          <p:nvPr/>
        </p:nvSpPr>
        <p:spPr>
          <a:xfrm>
            <a:off x="5867253" y="2666933"/>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By providing fair and transparent pricing, the model increases consumer trust, leading to a 15% rise in customer satisfaction ratings.
</a:t>
            </a:r>
            <a:endParaRPr lang="en-US" sz="1300" dirty="0"/>
          </a:p>
        </p:txBody>
      </p:sp>
      <p:sp>
        <p:nvSpPr>
          <p:cNvPr id="13" name="Shape 7"/>
          <p:cNvSpPr/>
          <p:nvPr/>
        </p:nvSpPr>
        <p:spPr>
          <a:xfrm>
            <a:off x="761981" y="4140096"/>
            <a:ext cx="152396" cy="152396"/>
          </a:xfrm>
          <a:prstGeom prst="ellipse">
            <a:avLst/>
          </a:prstGeom>
          <a:solidFill>
            <a:srgbClr val="00FFFF"/>
          </a:solidFill>
          <a:ln/>
        </p:spPr>
      </p:sp>
      <p:sp>
        <p:nvSpPr>
          <p:cNvPr id="14" name="Text 8"/>
          <p:cNvSpPr/>
          <p:nvPr/>
        </p:nvSpPr>
        <p:spPr>
          <a:xfrm>
            <a:off x="1041374" y="4190895"/>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Data-Driven Insights
</a:t>
            </a:r>
            <a:endParaRPr lang="en-US" sz="1400" dirty="0"/>
          </a:p>
        </p:txBody>
      </p:sp>
      <p:sp>
        <p:nvSpPr>
          <p:cNvPr id="15" name="Text 9"/>
          <p:cNvSpPr/>
          <p:nvPr/>
        </p:nvSpPr>
        <p:spPr>
          <a:xfrm>
            <a:off x="1041374" y="4952876"/>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Utilizing extensive datasets, the model offers strategic insights that help businesses make informed decisions, improving overall market positioning.
</a:t>
            </a:r>
            <a:endParaRPr lang="en-US" sz="1300" dirty="0"/>
          </a:p>
        </p:txBody>
      </p:sp>
      <p:sp>
        <p:nvSpPr>
          <p:cNvPr id="16" name="Shape 10"/>
          <p:cNvSpPr/>
          <p:nvPr/>
        </p:nvSpPr>
        <p:spPr>
          <a:xfrm>
            <a:off x="5587860" y="4140096"/>
            <a:ext cx="152396" cy="152396"/>
          </a:xfrm>
          <a:prstGeom prst="ellipse">
            <a:avLst/>
          </a:prstGeom>
          <a:solidFill>
            <a:srgbClr val="00FFFF"/>
          </a:solidFill>
          <a:ln/>
        </p:spPr>
      </p:sp>
      <p:sp>
        <p:nvSpPr>
          <p:cNvPr id="17" name="Text 11"/>
          <p:cNvSpPr/>
          <p:nvPr/>
        </p:nvSpPr>
        <p:spPr>
          <a:xfrm>
            <a:off x="5867253" y="4190895"/>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Scalability and Adaptation
</a:t>
            </a:r>
            <a:endParaRPr lang="en-US" sz="1400" dirty="0"/>
          </a:p>
        </p:txBody>
      </p:sp>
      <p:sp>
        <p:nvSpPr>
          <p:cNvPr id="18" name="Text 12"/>
          <p:cNvSpPr/>
          <p:nvPr/>
        </p:nvSpPr>
        <p:spPr>
          <a:xfrm>
            <a:off x="5867253" y="4952876"/>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model is designed to scale easily, adapting to various markets and consumer behaviors, ensuring long-term relevance and effectiveness.
</a:t>
            </a:r>
            <a:endParaRPr lang="en-US" sz="1300" dirty="0"/>
          </a:p>
        </p:txBody>
      </p:sp>
      <p:sp>
        <p:nvSpPr>
          <p:cNvPr id="19" name="Text 13"/>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27"/>
        </a:solidFill>
        <a:effectLst/>
      </p:bgPr>
    </p:bg>
    <p:spTree>
      <p:nvGrpSpPr>
        <p:cNvPr id="1" name=""/>
        <p:cNvGrpSpPr/>
        <p:nvPr/>
      </p:nvGrpSpPr>
      <p:grpSpPr>
        <a:xfrm>
          <a:off x="0" y="0"/>
          <a:ext cx="0" cy="0"/>
          <a:chOff x="0" y="0"/>
          <a:chExt cx="0" cy="0"/>
        </a:xfrm>
      </p:grpSpPr>
      <p:sp>
        <p:nvSpPr>
          <p:cNvPr id="2" name="Text 0"/>
          <p:cNvSpPr/>
          <p:nvPr/>
        </p:nvSpPr>
        <p:spPr>
          <a:xfrm>
            <a:off x="1269968" y="1015975"/>
            <a:ext cx="10876007" cy="723882"/>
          </a:xfrm>
          <a:prstGeom prst="rect">
            <a:avLst/>
          </a:prstGeom>
          <a:noFill/>
          <a:ln/>
        </p:spPr>
        <p:txBody>
          <a:bodyPr wrap="square" lIns="1016" tIns="1016" rIns="1016" bIns="1016" rtlCol="0" anchor="t"/>
          <a:lstStyle/>
          <a:p>
            <a:pPr marL="0" indent="0" algn="l">
              <a:lnSpc>
                <a:spcPct val="130000"/>
              </a:lnSpc>
              <a:buNone/>
            </a:pPr>
            <a:r>
              <a:rPr lang="en-US" sz="2900" dirty="0">
                <a:solidFill>
                  <a:srgbClr val="00FFFF"/>
                </a:solidFill>
                <a:latin typeface="Calibri" pitchFamily="34" charset="0"/>
                <a:ea typeface="Calibri" pitchFamily="34" charset="-122"/>
                <a:cs typeface="Calibri" pitchFamily="34" charset="-120"/>
              </a:rPr>
              <a:t>Recuriments
</a:t>
            </a:r>
            <a:endParaRPr lang="en-US" sz="2900" dirty="0"/>
          </a:p>
        </p:txBody>
      </p:sp>
      <p:sp>
        <p:nvSpPr>
          <p:cNvPr id="3" name="Text 1"/>
          <p:cNvSpPr/>
          <p:nvPr/>
        </p:nvSpPr>
        <p:spPr>
          <a:xfrm>
            <a:off x="1269968" y="2539937"/>
            <a:ext cx="9778756" cy="2387540"/>
          </a:xfrm>
          <a:prstGeom prst="rect">
            <a:avLst/>
          </a:prstGeom>
          <a:noFill/>
          <a:ln/>
        </p:spPr>
        <p:txBody>
          <a:bodyPr wrap="square" lIns="1016" tIns="1016" rIns="1016" bIns="1016" rtlCol="0" anchor="t"/>
          <a:lstStyle/>
          <a:p>
            <a:pPr marL="0" indent="0" algn="l">
              <a:lnSpc>
                <a:spcPct val="130000"/>
              </a:lnSpc>
              <a:buNone/>
            </a:pPr>
            <a:r>
              <a:rPr lang="en-US" sz="1300" dirty="0">
                <a:solidFill>
                  <a:srgbClr val="6E7BDA"/>
                </a:solidFill>
                <a:highlight>
                  <a:srgbClr val="0E0D1A"/>
                </a:highlight>
                <a:latin typeface="Calibri" pitchFamily="34" charset="0"/>
                <a:ea typeface="Calibri" pitchFamily="34" charset="-122"/>
                <a:cs typeface="Calibri" pitchFamily="34" charset="-120"/>
              </a:rPr>
              <a:t>pandas</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6E7BDA"/>
                </a:solidFill>
                <a:highlight>
                  <a:srgbClr val="0E0D1A"/>
                </a:highlight>
                <a:latin typeface="Calibri" pitchFamily="34" charset="0"/>
                <a:ea typeface="Calibri" pitchFamily="34" charset="-122"/>
                <a:cs typeface="Calibri" pitchFamily="34" charset="-120"/>
              </a:rPr>
              <a:t>numpy</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6E7BDA"/>
                </a:solidFill>
                <a:highlight>
                  <a:srgbClr val="0E0D1A"/>
                </a:highlight>
                <a:latin typeface="Calibri" pitchFamily="34" charset="0"/>
                <a:ea typeface="Calibri" pitchFamily="34" charset="-122"/>
                <a:cs typeface="Calibri" pitchFamily="34" charset="-120"/>
              </a:rPr>
              <a:t>matplotlib</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6E7BDA"/>
                </a:solidFill>
                <a:highlight>
                  <a:srgbClr val="0E0D1A"/>
                </a:highlight>
                <a:latin typeface="Calibri" pitchFamily="34" charset="0"/>
                <a:ea typeface="Calibri" pitchFamily="34" charset="-122"/>
                <a:cs typeface="Calibri" pitchFamily="34" charset="-120"/>
              </a:rPr>
              <a:t>seaborn</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6E7BDA"/>
                </a:solidFill>
                <a:highlight>
                  <a:srgbClr val="0E0D1A"/>
                </a:highlight>
                <a:latin typeface="Calibri" pitchFamily="34" charset="0"/>
                <a:ea typeface="Calibri" pitchFamily="34" charset="-122"/>
                <a:cs typeface="Calibri" pitchFamily="34" charset="-120"/>
              </a:rPr>
              <a:t>scikit-learn</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6E7BDA"/>
                </a:solidFill>
                <a:highlight>
                  <a:srgbClr val="0E0D1A"/>
                </a:highlight>
                <a:latin typeface="Calibri" pitchFamily="34" charset="0"/>
                <a:ea typeface="Calibri" pitchFamily="34" charset="-122"/>
                <a:cs typeface="Calibri" pitchFamily="34" charset="-120"/>
              </a:rPr>
              <a:t>joblib</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6E7BDA"/>
                </a:solidFill>
                <a:highlight>
                  <a:srgbClr val="0E0D1A"/>
                </a:highlight>
                <a:latin typeface="Calibri" pitchFamily="34" charset="0"/>
                <a:ea typeface="Calibri" pitchFamily="34" charset="-122"/>
                <a:cs typeface="Calibri" pitchFamily="34" charset="-120"/>
              </a:rPr>
              <a:t>streamlit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6E7BDA"/>
                </a:solidFill>
                <a:highlight>
                  <a:srgbClr val="0E0D1A"/>
                </a:highlight>
                <a:latin typeface="Calibri" pitchFamily="34" charset="0"/>
                <a:ea typeface="Calibri" pitchFamily="34" charset="-122"/>
                <a:cs typeface="Calibri" pitchFamily="34" charset="-120"/>
              </a:rPr>
              <a:t>plotly</a:t>
            </a:r>
            <a:r>
              <a:rPr lang="en-US" sz="1300" dirty="0">
                <a:solidFill>
                  <a:srgbClr val="B8C5D6"/>
                </a:solidFill>
                <a:latin typeface="Calibri" pitchFamily="34" charset="0"/>
                <a:ea typeface="Calibri" pitchFamily="34" charset="-122"/>
                <a:cs typeface="Calibri" pitchFamily="34" charset="-120"/>
              </a:rPr>
              <a:t>
Click to add content...
</a:t>
            </a:r>
            <a:endParaRPr lang="en-US" sz="1300" dirty="0"/>
          </a:p>
        </p:txBody>
      </p:sp>
      <p:sp>
        <p:nvSpPr>
          <p:cNvPr id="4" name="Text 2"/>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27"/>
        </a:solidFill>
        <a:effectLst/>
      </p:bgPr>
    </p:bg>
    <p:spTree>
      <p:nvGrpSpPr>
        <p:cNvPr id="1" name=""/>
        <p:cNvGrpSpPr/>
        <p:nvPr/>
      </p:nvGrpSpPr>
      <p:grpSpPr>
        <a:xfrm>
          <a:off x="0" y="0"/>
          <a:ext cx="0" cy="0"/>
          <a:chOff x="0" y="0"/>
          <a:chExt cx="0" cy="0"/>
        </a:xfrm>
      </p:grpSpPr>
      <p:sp>
        <p:nvSpPr>
          <p:cNvPr id="2" name="Text 0"/>
          <p:cNvSpPr/>
          <p:nvPr/>
        </p:nvSpPr>
        <p:spPr>
          <a:xfrm>
            <a:off x="1269968" y="1015975"/>
            <a:ext cx="10876007" cy="723882"/>
          </a:xfrm>
          <a:prstGeom prst="rect">
            <a:avLst/>
          </a:prstGeom>
          <a:noFill/>
          <a:ln/>
        </p:spPr>
        <p:txBody>
          <a:bodyPr wrap="square" lIns="1016" tIns="1016" rIns="1016" bIns="1016" rtlCol="0" anchor="t"/>
          <a:lstStyle/>
          <a:p>
            <a:pPr marL="0" indent="0" algn="l">
              <a:lnSpc>
                <a:spcPct val="130000"/>
              </a:lnSpc>
              <a:buNone/>
            </a:pPr>
            <a:r>
              <a:rPr lang="en-US" sz="2900" dirty="0">
                <a:solidFill>
                  <a:srgbClr val="00FFFF"/>
                </a:solidFill>
                <a:latin typeface="Calibri" pitchFamily="34" charset="0"/>
                <a:ea typeface="Calibri" pitchFamily="34" charset="-122"/>
                <a:cs typeface="Calibri" pitchFamily="34" charset="-120"/>
              </a:rPr>
              <a:t>codeing
</a:t>
            </a:r>
            <a:endParaRPr lang="en-US" sz="2900" dirty="0"/>
          </a:p>
        </p:txBody>
      </p:sp>
      <p:sp>
        <p:nvSpPr>
          <p:cNvPr id="3" name="Text 1"/>
          <p:cNvSpPr/>
          <p:nvPr/>
        </p:nvSpPr>
        <p:spPr>
          <a:xfrm>
            <a:off x="1290256" y="1739857"/>
            <a:ext cx="9778756" cy="13636919"/>
          </a:xfrm>
          <a:prstGeom prst="rect">
            <a:avLst/>
          </a:prstGeom>
          <a:noFill/>
          <a:ln/>
        </p:spPr>
        <p:txBody>
          <a:bodyPr wrap="square" lIns="1016" tIns="1016" rIns="1016" bIns="1016"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Click to add </a:t>
            </a:r>
            <a:r>
              <a:rPr lang="en-US" sz="1300" dirty="0">
                <a:solidFill>
                  <a:srgbClr val="DDDFE9"/>
                </a:solidFill>
                <a:highlight>
                  <a:srgbClr val="0E0D1A"/>
                </a:highlight>
                <a:latin typeface="Calibri" pitchFamily="34" charset="0"/>
                <a:ea typeface="Calibri" pitchFamily="34" charset="-122"/>
                <a:cs typeface="Calibri" pitchFamily="34" charset="-120"/>
              </a:rPr>
              <a:t>st</a:t>
            </a:r>
            <a:r>
              <a:rPr lang="en-US" sz="1300" dirty="0">
                <a:solidFill>
                  <a:srgbClr val="ADADAD"/>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set_page_config</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i="1" dirty="0">
                <a:solidFill>
                  <a:srgbClr val="DDDFE9"/>
                </a:solidFill>
                <a:highlight>
                  <a:srgbClr val="0E0D1A"/>
                </a:highlight>
                <a:latin typeface="Calibri" pitchFamily="34" charset="0"/>
                <a:ea typeface="Calibri" pitchFamily="34" charset="-122"/>
                <a:cs typeface="Calibri" pitchFamily="34" charset="-120"/>
              </a:rPr>
              <a:t>page_title</a:t>
            </a:r>
            <a:r>
              <a:rPr lang="en-US" sz="1300" dirty="0">
                <a:solidFill>
                  <a:srgbClr val="EB58E3"/>
                </a:solidFill>
                <a:highlight>
                  <a:srgbClr val="0E0D1A"/>
                </a:highlight>
                <a:latin typeface="Calibri" pitchFamily="34" charset="0"/>
                <a:ea typeface="Calibri" pitchFamily="34" charset="-122"/>
                <a:cs typeface="Calibri" pitchFamily="34" charset="-120"/>
              </a:rPr>
              <a:t>=</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8C97EA"/>
                </a:solidFill>
                <a:highlight>
                  <a:srgbClr val="0E0D1A"/>
                </a:highlight>
                <a:latin typeface="Calibri" pitchFamily="34" charset="0"/>
                <a:ea typeface="Calibri" pitchFamily="34" charset="-122"/>
                <a:cs typeface="Calibri" pitchFamily="34" charset="-120"/>
              </a:rPr>
              <a:t>Car Price Prediction</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ADADAD"/>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i="1" dirty="0">
                <a:solidFill>
                  <a:srgbClr val="DDDFE9"/>
                </a:solidFill>
                <a:highlight>
                  <a:srgbClr val="0E0D1A"/>
                </a:highlight>
                <a:latin typeface="Calibri" pitchFamily="34" charset="0"/>
                <a:ea typeface="Calibri" pitchFamily="34" charset="-122"/>
                <a:cs typeface="Calibri" pitchFamily="34" charset="-120"/>
              </a:rPr>
              <a:t>page_icon</a:t>
            </a:r>
            <a:r>
              <a:rPr lang="en-US" sz="1300" dirty="0">
                <a:solidFill>
                  <a:srgbClr val="EB58E3"/>
                </a:solidFill>
                <a:highlight>
                  <a:srgbClr val="0E0D1A"/>
                </a:highlight>
                <a:latin typeface="Calibri" pitchFamily="34" charset="0"/>
                <a:ea typeface="Calibri" pitchFamily="34" charset="-122"/>
                <a:cs typeface="Calibri" pitchFamily="34" charset="-120"/>
              </a:rPr>
              <a:t>=</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8C97EA"/>
                </a:solidFill>
                <a:highlight>
                  <a:srgbClr val="0E0D1A"/>
                </a:highlight>
                <a:latin typeface="Calibri" pitchFamily="34" charset="0"/>
                <a:ea typeface="Calibri" pitchFamily="34" charset="-122"/>
                <a:cs typeface="Calibri" pitchFamily="34" charset="-120"/>
              </a:rPr>
              <a:t>🚗</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ADADAD"/>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i="1" dirty="0">
                <a:solidFill>
                  <a:srgbClr val="DDDFE9"/>
                </a:solidFill>
                <a:highlight>
                  <a:srgbClr val="0E0D1A"/>
                </a:highlight>
                <a:latin typeface="Calibri" pitchFamily="34" charset="0"/>
                <a:ea typeface="Calibri" pitchFamily="34" charset="-122"/>
                <a:cs typeface="Calibri" pitchFamily="34" charset="-120"/>
              </a:rPr>
              <a:t>layout</a:t>
            </a:r>
            <a:r>
              <a:rPr lang="en-US" sz="1300" dirty="0">
                <a:solidFill>
                  <a:srgbClr val="EB58E3"/>
                </a:solidFill>
                <a:highlight>
                  <a:srgbClr val="0E0D1A"/>
                </a:highlight>
                <a:latin typeface="Calibri" pitchFamily="34" charset="0"/>
                <a:ea typeface="Calibri" pitchFamily="34" charset="-122"/>
                <a:cs typeface="Calibri" pitchFamily="34" charset="-120"/>
              </a:rPr>
              <a:t>=</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8C97EA"/>
                </a:solidFill>
                <a:highlight>
                  <a:srgbClr val="0E0D1A"/>
                </a:highlight>
                <a:latin typeface="Calibri" pitchFamily="34" charset="0"/>
                <a:ea typeface="Calibri" pitchFamily="34" charset="-122"/>
                <a:cs typeface="Calibri" pitchFamily="34" charset="-120"/>
              </a:rPr>
              <a:t>wide</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 Custom CSS</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DDDFE9"/>
                </a:solidFill>
                <a:highlight>
                  <a:srgbClr val="0E0D1A"/>
                </a:highlight>
                <a:latin typeface="Calibri" pitchFamily="34" charset="0"/>
                <a:ea typeface="Calibri" pitchFamily="34" charset="-122"/>
                <a:cs typeface="Calibri" pitchFamily="34" charset="-120"/>
              </a:rPr>
              <a:t>st</a:t>
            </a:r>
            <a:r>
              <a:rPr lang="en-US" sz="1300" dirty="0">
                <a:solidFill>
                  <a:srgbClr val="ADADAD"/>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markdown</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&lt;style&gt;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.main {</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padding: 1rem;</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h1 {</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color: #e74c3c;</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text-align: center;</a:t>
            </a:r>
          </a:p>
          <a:p>
            <a:pPr marL="0" indent="0" algn="l">
              <a:lnSpc>
                <a:spcPct val="130000"/>
              </a:lnSpc>
              <a:buNone/>
            </a:pPr>
            <a:endParaRPr lang="en-US" sz="1300" dirty="0"/>
          </a:p>
        </p:txBody>
      </p:sp>
      <p:sp>
        <p:nvSpPr>
          <p:cNvPr id="4" name="Text 2"/>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27"/>
        </a:solidFill>
        <a:effectLst/>
      </p:bgPr>
    </p:bg>
    <p:spTree>
      <p:nvGrpSpPr>
        <p:cNvPr id="1" name=""/>
        <p:cNvGrpSpPr/>
        <p:nvPr/>
      </p:nvGrpSpPr>
      <p:grpSpPr>
        <a:xfrm>
          <a:off x="0" y="0"/>
          <a:ext cx="0" cy="0"/>
          <a:chOff x="0" y="0"/>
          <a:chExt cx="0" cy="0"/>
        </a:xfrm>
      </p:grpSpPr>
      <p:sp>
        <p:nvSpPr>
          <p:cNvPr id="2" name="Text 0"/>
          <p:cNvSpPr/>
          <p:nvPr/>
        </p:nvSpPr>
        <p:spPr>
          <a:xfrm>
            <a:off x="1888584" y="234311"/>
            <a:ext cx="5674218" cy="6559682"/>
          </a:xfrm>
          <a:prstGeom prst="rect">
            <a:avLst/>
          </a:prstGeom>
          <a:noFill/>
          <a:ln/>
        </p:spPr>
        <p:txBody>
          <a:bodyPr wrap="square" lIns="1016" tIns="1016" rIns="1016" bIns="1016"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st.set_page_config(
    page_title="Car Price Prediction",
    page_icon="🚗",
    layout="wide"
)
# ---------------------------------------
# Custom CSS
# ---------------------------------------
st.markdown("""
&lt;style&gt;
.main {
    padding: 1rem;
}
h1 {
    color: #e74c3c;
    text-align: center;
}
.stButton&gt;button {
    width:100%;
    background:#e74c3c;
    color:white;
    border-radius:10px;
    height:45px
</a:t>
            </a:r>
            <a:endParaRPr lang="en-US" sz="1300" dirty="0"/>
          </a:p>
        </p:txBody>
      </p:sp>
      <p:sp>
        <p:nvSpPr>
          <p:cNvPr id="3" name="Text 1"/>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27"/>
        </a:solidFill>
        <a:effectLst/>
      </p:bgPr>
    </p:bg>
    <p:spTree>
      <p:nvGrpSpPr>
        <p:cNvPr id="1" name=""/>
        <p:cNvGrpSpPr/>
        <p:nvPr/>
      </p:nvGrpSpPr>
      <p:grpSpPr>
        <a:xfrm>
          <a:off x="0" y="0"/>
          <a:ext cx="0" cy="0"/>
          <a:chOff x="0" y="0"/>
          <a:chExt cx="0" cy="0"/>
        </a:xfrm>
      </p:grpSpPr>
      <p:sp>
        <p:nvSpPr>
          <p:cNvPr id="2" name="Text 0"/>
          <p:cNvSpPr/>
          <p:nvPr/>
        </p:nvSpPr>
        <p:spPr>
          <a:xfrm>
            <a:off x="1269968" y="213356"/>
            <a:ext cx="10876007" cy="6644644"/>
          </a:xfrm>
          <a:prstGeom prst="rect">
            <a:avLst/>
          </a:prstGeom>
          <a:noFill/>
          <a:ln/>
        </p:spPr>
        <p:txBody>
          <a:bodyPr wrap="square" lIns="1016" tIns="1016" rIns="1016" bIns="1016" rtlCol="0" anchor="t"/>
          <a:lstStyle/>
          <a:p>
            <a:pPr marL="0" indent="0" algn="l">
              <a:lnSpc>
                <a:spcPct val="130000"/>
              </a:lnSpc>
              <a:buNone/>
            </a:pPr>
            <a:r>
              <a:rPr lang="en-US" sz="1300" dirty="0">
                <a:solidFill>
                  <a:srgbClr val="DDDFE9"/>
                </a:solidFill>
                <a:highlight>
                  <a:srgbClr val="0E0D1A"/>
                </a:highlight>
                <a:latin typeface="Calibri" pitchFamily="34" charset="0"/>
                <a:ea typeface="Calibri" pitchFamily="34" charset="-122"/>
                <a:cs typeface="Calibri" pitchFamily="34" charset="-120"/>
              </a:rPr>
              <a:t>st</a:t>
            </a:r>
            <a:r>
              <a:rPr lang="en-US" sz="1300" dirty="0">
                <a:solidFill>
                  <a:srgbClr val="ADADAD"/>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set_page_config</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i="1" dirty="0">
                <a:solidFill>
                  <a:srgbClr val="DDDFE9"/>
                </a:solidFill>
                <a:highlight>
                  <a:srgbClr val="0E0D1A"/>
                </a:highlight>
                <a:latin typeface="Calibri" pitchFamily="34" charset="0"/>
                <a:ea typeface="Calibri" pitchFamily="34" charset="-122"/>
                <a:cs typeface="Calibri" pitchFamily="34" charset="-120"/>
              </a:rPr>
              <a:t>page_title</a:t>
            </a:r>
            <a:r>
              <a:rPr lang="en-US" sz="1300" dirty="0">
                <a:solidFill>
                  <a:srgbClr val="EB58E3"/>
                </a:solidFill>
                <a:highlight>
                  <a:srgbClr val="0E0D1A"/>
                </a:highlight>
                <a:latin typeface="Calibri" pitchFamily="34" charset="0"/>
                <a:ea typeface="Calibri" pitchFamily="34" charset="-122"/>
                <a:cs typeface="Calibri" pitchFamily="34" charset="-120"/>
              </a:rPr>
              <a:t>=</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8C97EA"/>
                </a:solidFill>
                <a:highlight>
                  <a:srgbClr val="0E0D1A"/>
                </a:highlight>
                <a:latin typeface="Calibri" pitchFamily="34" charset="0"/>
                <a:ea typeface="Calibri" pitchFamily="34" charset="-122"/>
                <a:cs typeface="Calibri" pitchFamily="34" charset="-120"/>
              </a:rPr>
              <a:t>Car Price Prediction</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ADADAD"/>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i="1" dirty="0">
                <a:solidFill>
                  <a:srgbClr val="DDDFE9"/>
                </a:solidFill>
                <a:highlight>
                  <a:srgbClr val="0E0D1A"/>
                </a:highlight>
                <a:latin typeface="Calibri" pitchFamily="34" charset="0"/>
                <a:ea typeface="Calibri" pitchFamily="34" charset="-122"/>
                <a:cs typeface="Calibri" pitchFamily="34" charset="-120"/>
              </a:rPr>
              <a:t>page_icon</a:t>
            </a:r>
            <a:r>
              <a:rPr lang="en-US" sz="1300" dirty="0">
                <a:solidFill>
                  <a:srgbClr val="EB58E3"/>
                </a:solidFill>
                <a:highlight>
                  <a:srgbClr val="0E0D1A"/>
                </a:highlight>
                <a:latin typeface="Calibri" pitchFamily="34" charset="0"/>
                <a:ea typeface="Calibri" pitchFamily="34" charset="-122"/>
                <a:cs typeface="Calibri" pitchFamily="34" charset="-120"/>
              </a:rPr>
              <a:t>=</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8C97EA"/>
                </a:solidFill>
                <a:highlight>
                  <a:srgbClr val="0E0D1A"/>
                </a:highlight>
                <a:latin typeface="Calibri" pitchFamily="34" charset="0"/>
                <a:ea typeface="Calibri" pitchFamily="34" charset="-122"/>
                <a:cs typeface="Calibri" pitchFamily="34" charset="-120"/>
              </a:rPr>
              <a:t>🚗</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ADADAD"/>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i="1" dirty="0">
                <a:solidFill>
                  <a:srgbClr val="DDDFE9"/>
                </a:solidFill>
                <a:highlight>
                  <a:srgbClr val="0E0D1A"/>
                </a:highlight>
                <a:latin typeface="Calibri" pitchFamily="34" charset="0"/>
                <a:ea typeface="Calibri" pitchFamily="34" charset="-122"/>
                <a:cs typeface="Calibri" pitchFamily="34" charset="-120"/>
              </a:rPr>
              <a:t>layout</a:t>
            </a:r>
            <a:r>
              <a:rPr lang="en-US" sz="1300" dirty="0">
                <a:solidFill>
                  <a:srgbClr val="EB58E3"/>
                </a:solidFill>
                <a:highlight>
                  <a:srgbClr val="0E0D1A"/>
                </a:highlight>
                <a:latin typeface="Calibri" pitchFamily="34" charset="0"/>
                <a:ea typeface="Calibri" pitchFamily="34" charset="-122"/>
                <a:cs typeface="Calibri" pitchFamily="34" charset="-120"/>
              </a:rPr>
              <a:t>=</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8C97EA"/>
                </a:solidFill>
                <a:highlight>
                  <a:srgbClr val="0E0D1A"/>
                </a:highlight>
                <a:latin typeface="Calibri" pitchFamily="34" charset="0"/>
                <a:ea typeface="Calibri" pitchFamily="34" charset="-122"/>
                <a:cs typeface="Calibri" pitchFamily="34" charset="-120"/>
              </a:rPr>
              <a:t>wide</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 ---------------------------------------</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 Cusst</a:t>
            </a:r>
            <a:r>
              <a:rPr lang="en-US" sz="1300" dirty="0">
                <a:solidFill>
                  <a:srgbClr val="ADADAD"/>
                </a:solidFill>
                <a:highlight>
                  <a:srgbClr val="0E0D1A"/>
                </a:highlight>
                <a:latin typeface="Calibri" pitchFamily="34" charset="0"/>
                <a:ea typeface="Calibri" pitchFamily="34" charset="-122"/>
                <a:cs typeface="Calibri" pitchFamily="34" charset="-120"/>
              </a:rPr>
              <a:t>.</a:t>
            </a:r>
            <a:r>
              <a:rPr lang="en-US" sz="1300" dirty="0">
                <a:solidFill>
                  <a:srgbClr val="DDDFE9"/>
                </a:solidFill>
                <a:highlight>
                  <a:srgbClr val="0E0D1A"/>
                </a:highlight>
                <a:latin typeface="Calibri" pitchFamily="34" charset="0"/>
                <a:ea typeface="Calibri" pitchFamily="34" charset="-122"/>
                <a:cs typeface="Calibri" pitchFamily="34" charset="-120"/>
              </a:rPr>
              <a:t>markdown</a:t>
            </a:r>
            <a:r>
              <a:rPr lang="en-US" sz="1300" dirty="0">
                <a:solidFill>
                  <a:srgbClr val="A7A8AF"/>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&lt;style&gt;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.main {</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padding: 1rem;</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h1 {</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color: #e74c3c;</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text-align: center;</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.stButton&gt;button {</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width:100%;</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background:#e74c3c;</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color:white;</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border-radius:10px;</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    height:45px;</a:t>
            </a:r>
            <a:r>
              <a:rPr lang="en-US" sz="1300" dirty="0">
                <a:solidFill>
                  <a:srgbClr val="B8C5D6"/>
                </a:solidFill>
                <a:latin typeface="Calibri" pitchFamily="34" charset="0"/>
                <a:ea typeface="Calibri" pitchFamily="34" charset="-122"/>
                <a:cs typeface="Calibri" pitchFamily="34" charset="-120"/>
              </a:rPr>
              <a:t>
</a:t>
            </a:r>
            <a:r>
              <a:rPr lang="en-US" sz="1300" dirty="0">
                <a:solidFill>
                  <a:srgbClr val="8C97EA"/>
                </a:solidFill>
                <a:highlight>
                  <a:srgbClr val="0E0D1A"/>
                </a:highlight>
                <a:latin typeface="Calibri" pitchFamily="34" charset="0"/>
                <a:ea typeface="Calibri" pitchFamily="34" charset="-122"/>
                <a:cs typeface="Calibri" pitchFamily="34" charset="-120"/>
              </a:rPr>
              <a:t>}</a:t>
            </a:r>
            <a:r>
              <a:rPr lang="en-US" sz="1300" dirty="0">
                <a:solidFill>
                  <a:srgbClr val="B8C5D6"/>
                </a:solidFill>
                <a:latin typeface="Calibri" pitchFamily="34" charset="0"/>
                <a:ea typeface="Calibri" pitchFamily="34" charset="-122"/>
                <a:cs typeface="Calibri" pitchFamily="34" charset="-120"/>
              </a:rPr>
              <a:t>
Click to add content...
</a:t>
            </a:r>
            <a:endParaRPr lang="en-US" sz="1300" dirty="0"/>
          </a:p>
        </p:txBody>
      </p:sp>
      <p:sp>
        <p:nvSpPr>
          <p:cNvPr id="3" name="Text 1"/>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562230-6A8B-3596-2CE8-EC2108C7B68D}"/>
              </a:ext>
            </a:extLst>
          </p:cNvPr>
          <p:cNvPicPr>
            <a:picLocks noChangeAspect="1"/>
          </p:cNvPicPr>
          <p:nvPr/>
        </p:nvPicPr>
        <p:blipFill>
          <a:blip r:embed="rId2"/>
          <a:stretch>
            <a:fillRect/>
          </a:stretch>
        </p:blipFill>
        <p:spPr>
          <a:xfrm>
            <a:off x="787179" y="216891"/>
            <a:ext cx="5176299" cy="6424217"/>
          </a:xfrm>
          <a:prstGeom prst="rect">
            <a:avLst/>
          </a:prstGeom>
        </p:spPr>
      </p:pic>
      <p:pic>
        <p:nvPicPr>
          <p:cNvPr id="7" name="Picture 6">
            <a:extLst>
              <a:ext uri="{FF2B5EF4-FFF2-40B4-BE49-F238E27FC236}">
                <a16:creationId xmlns:a16="http://schemas.microsoft.com/office/drawing/2014/main" id="{7045259F-04E7-E94A-B1C4-63F4E270CD86}"/>
              </a:ext>
            </a:extLst>
          </p:cNvPr>
          <p:cNvPicPr>
            <a:picLocks noChangeAspect="1"/>
          </p:cNvPicPr>
          <p:nvPr/>
        </p:nvPicPr>
        <p:blipFill>
          <a:blip r:embed="rId3"/>
          <a:stretch>
            <a:fillRect/>
          </a:stretch>
        </p:blipFill>
        <p:spPr>
          <a:xfrm>
            <a:off x="6376946" y="75909"/>
            <a:ext cx="5542059" cy="6706181"/>
          </a:xfrm>
          <a:prstGeom prst="rect">
            <a:avLst/>
          </a:prstGeom>
        </p:spPr>
      </p:pic>
    </p:spTree>
    <p:extLst>
      <p:ext uri="{BB962C8B-B14F-4D97-AF65-F5344CB8AC3E}">
        <p14:creationId xmlns:p14="http://schemas.microsoft.com/office/powerpoint/2010/main" val="1426029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90895" y="2285943"/>
            <a:ext cx="3809905" cy="3809905"/>
          </a:xfrm>
          <a:prstGeom prst="rect">
            <a:avLst/>
          </a:prstGeom>
        </p:spPr>
      </p:pic>
      <p:pic>
        <p:nvPicPr>
          <p:cNvPr id="3" name="Image 1" descr="preencoded.png"/>
          <p:cNvPicPr>
            <a:picLocks noChangeAspect="1"/>
          </p:cNvPicPr>
          <p:nvPr/>
        </p:nvPicPr>
        <p:blipFill>
          <a:blip r:embed="rId3"/>
          <a:stretch>
            <a:fillRect/>
          </a:stretch>
        </p:blipFill>
        <p:spPr>
          <a:xfrm>
            <a:off x="4190895" y="2285943"/>
            <a:ext cx="3809905" cy="3809905"/>
          </a:xfrm>
          <a:prstGeom prst="rect">
            <a:avLst/>
          </a:prstGeom>
        </p:spPr>
      </p:pic>
      <p:pic>
        <p:nvPicPr>
          <p:cNvPr id="4" name="Image 2" descr="preencoded.png"/>
          <p:cNvPicPr>
            <a:picLocks noChangeAspect="1"/>
          </p:cNvPicPr>
          <p:nvPr/>
        </p:nvPicPr>
        <p:blipFill>
          <a:blip r:embed="rId4"/>
          <a:stretch>
            <a:fillRect/>
          </a:stretch>
        </p:blipFill>
        <p:spPr>
          <a:xfrm>
            <a:off x="11175721" y="5841854"/>
            <a:ext cx="634984" cy="634984"/>
          </a:xfrm>
          <a:prstGeom prst="rect">
            <a:avLst/>
          </a:prstGeom>
        </p:spPr>
      </p:pic>
      <p:pic>
        <p:nvPicPr>
          <p:cNvPr id="5" name="Image 3" descr="preencoded.png"/>
          <p:cNvPicPr>
            <a:picLocks noChangeAspect="1"/>
          </p:cNvPicPr>
          <p:nvPr/>
        </p:nvPicPr>
        <p:blipFill>
          <a:blip r:embed="rId5"/>
          <a:stretch>
            <a:fillRect/>
          </a:stretch>
        </p:blipFill>
        <p:spPr>
          <a:xfrm>
            <a:off x="380990" y="5841854"/>
            <a:ext cx="634984" cy="634984"/>
          </a:xfrm>
          <a:prstGeom prst="rect">
            <a:avLst/>
          </a:prstGeom>
        </p:spPr>
      </p:pic>
      <p:pic>
        <p:nvPicPr>
          <p:cNvPr id="6" name="Image 4" descr="preencoded.png"/>
          <p:cNvPicPr>
            <a:picLocks noChangeAspect="1"/>
          </p:cNvPicPr>
          <p:nvPr/>
        </p:nvPicPr>
        <p:blipFill>
          <a:blip r:embed="rId6"/>
          <a:stretch>
            <a:fillRect/>
          </a:stretch>
        </p:blipFill>
        <p:spPr>
          <a:xfrm>
            <a:off x="11175721" y="380990"/>
            <a:ext cx="634984" cy="634984"/>
          </a:xfrm>
          <a:prstGeom prst="rect">
            <a:avLst/>
          </a:prstGeom>
        </p:spPr>
      </p:pic>
      <p:pic>
        <p:nvPicPr>
          <p:cNvPr id="7" name="Image 5" descr="preencoded.png"/>
          <p:cNvPicPr>
            <a:picLocks noChangeAspect="1"/>
          </p:cNvPicPr>
          <p:nvPr/>
        </p:nvPicPr>
        <p:blipFill>
          <a:blip r:embed="rId7"/>
          <a:stretch>
            <a:fillRect/>
          </a:stretch>
        </p:blipFill>
        <p:spPr>
          <a:xfrm>
            <a:off x="380990" y="380990"/>
            <a:ext cx="634984" cy="634984"/>
          </a:xfrm>
          <a:prstGeom prst="rect">
            <a:avLst/>
          </a:prstGeom>
        </p:spPr>
      </p:pic>
      <p:pic>
        <p:nvPicPr>
          <p:cNvPr id="8" name="Image 6" descr="preencoded.png"/>
          <p:cNvPicPr>
            <a:picLocks noChangeAspect="1"/>
          </p:cNvPicPr>
          <p:nvPr/>
        </p:nvPicPr>
        <p:blipFill>
          <a:blip r:embed="rId4"/>
          <a:stretch>
            <a:fillRect/>
          </a:stretch>
        </p:blipFill>
        <p:spPr>
          <a:xfrm>
            <a:off x="11175721" y="5841854"/>
            <a:ext cx="634984" cy="634984"/>
          </a:xfrm>
          <a:prstGeom prst="rect">
            <a:avLst/>
          </a:prstGeom>
        </p:spPr>
      </p:pic>
      <p:pic>
        <p:nvPicPr>
          <p:cNvPr id="9" name="Image 7" descr="preencoded.png"/>
          <p:cNvPicPr>
            <a:picLocks noChangeAspect="1"/>
          </p:cNvPicPr>
          <p:nvPr/>
        </p:nvPicPr>
        <p:blipFill>
          <a:blip r:embed="rId5"/>
          <a:stretch>
            <a:fillRect/>
          </a:stretch>
        </p:blipFill>
        <p:spPr>
          <a:xfrm>
            <a:off x="380990" y="5841854"/>
            <a:ext cx="634984" cy="634984"/>
          </a:xfrm>
          <a:prstGeom prst="rect">
            <a:avLst/>
          </a:prstGeom>
        </p:spPr>
      </p:pic>
      <p:pic>
        <p:nvPicPr>
          <p:cNvPr id="10" name="Image 8" descr="preencoded.png"/>
          <p:cNvPicPr>
            <a:picLocks noChangeAspect="1"/>
          </p:cNvPicPr>
          <p:nvPr/>
        </p:nvPicPr>
        <p:blipFill>
          <a:blip r:embed="rId6"/>
          <a:stretch>
            <a:fillRect/>
          </a:stretch>
        </p:blipFill>
        <p:spPr>
          <a:xfrm>
            <a:off x="11175721" y="380990"/>
            <a:ext cx="634984" cy="634984"/>
          </a:xfrm>
          <a:prstGeom prst="rect">
            <a:avLst/>
          </a:prstGeom>
        </p:spPr>
      </p:pic>
      <p:pic>
        <p:nvPicPr>
          <p:cNvPr id="11" name="Image 9" descr="preencoded.png"/>
          <p:cNvPicPr>
            <a:picLocks noChangeAspect="1"/>
          </p:cNvPicPr>
          <p:nvPr/>
        </p:nvPicPr>
        <p:blipFill>
          <a:blip r:embed="rId7"/>
          <a:stretch>
            <a:fillRect/>
          </a:stretch>
        </p:blipFill>
        <p:spPr>
          <a:xfrm>
            <a:off x="380990" y="380990"/>
            <a:ext cx="634984" cy="634984"/>
          </a:xfrm>
          <a:prstGeom prst="rect">
            <a:avLst/>
          </a:prstGeom>
        </p:spPr>
      </p:pic>
      <p:pic>
        <p:nvPicPr>
          <p:cNvPr id="12" name="Image 10" descr="preencoded.png"/>
          <p:cNvPicPr>
            <a:picLocks noChangeAspect="1"/>
          </p:cNvPicPr>
          <p:nvPr/>
        </p:nvPicPr>
        <p:blipFill>
          <a:blip r:embed="rId8"/>
          <a:stretch>
            <a:fillRect/>
          </a:stretch>
        </p:blipFill>
        <p:spPr>
          <a:xfrm>
            <a:off x="0" y="6819730"/>
            <a:ext cx="12145975" cy="914400"/>
          </a:xfrm>
          <a:prstGeom prst="rect">
            <a:avLst/>
          </a:prstGeom>
        </p:spPr>
      </p:pic>
      <p:pic>
        <p:nvPicPr>
          <p:cNvPr id="13" name="Image 11" descr="preencoded.png"/>
          <p:cNvPicPr>
            <a:picLocks noChangeAspect="1"/>
          </p:cNvPicPr>
          <p:nvPr/>
        </p:nvPicPr>
        <p:blipFill>
          <a:blip r:embed="rId9"/>
          <a:stretch>
            <a:fillRect/>
          </a:stretch>
        </p:blipFill>
        <p:spPr>
          <a:xfrm>
            <a:off x="0" y="0"/>
            <a:ext cx="12145975" cy="38099"/>
          </a:xfrm>
          <a:prstGeom prst="rect">
            <a:avLst/>
          </a:prstGeom>
        </p:spPr>
      </p:pic>
      <p:pic>
        <p:nvPicPr>
          <p:cNvPr id="14" name="Image 12" descr="preencoded.png"/>
          <p:cNvPicPr>
            <a:picLocks noChangeAspect="1"/>
          </p:cNvPicPr>
          <p:nvPr/>
        </p:nvPicPr>
        <p:blipFill>
          <a:blip r:embed="rId8"/>
          <a:stretch>
            <a:fillRect/>
          </a:stretch>
        </p:blipFill>
        <p:spPr>
          <a:xfrm>
            <a:off x="0" y="6819730"/>
            <a:ext cx="12145975" cy="914400"/>
          </a:xfrm>
          <a:prstGeom prst="rect">
            <a:avLst/>
          </a:prstGeom>
        </p:spPr>
      </p:pic>
      <p:pic>
        <p:nvPicPr>
          <p:cNvPr id="15" name="Image 13" descr="preencoded.png"/>
          <p:cNvPicPr>
            <a:picLocks noChangeAspect="1"/>
          </p:cNvPicPr>
          <p:nvPr/>
        </p:nvPicPr>
        <p:blipFill>
          <a:blip r:embed="rId9"/>
          <a:stretch>
            <a:fillRect/>
          </a:stretch>
        </p:blipFill>
        <p:spPr>
          <a:xfrm>
            <a:off x="0" y="0"/>
            <a:ext cx="12145975" cy="38099"/>
          </a:xfrm>
          <a:prstGeom prst="rect">
            <a:avLst/>
          </a:prstGeom>
        </p:spPr>
      </p:pic>
      <p:sp>
        <p:nvSpPr>
          <p:cNvPr id="16" name="Text 0"/>
          <p:cNvSpPr/>
          <p:nvPr/>
        </p:nvSpPr>
        <p:spPr>
          <a:xfrm>
            <a:off x="2285943" y="2285943"/>
            <a:ext cx="7619810" cy="701022"/>
          </a:xfrm>
          <a:prstGeom prst="rect">
            <a:avLst/>
          </a:prstGeom>
          <a:noFill/>
          <a:ln/>
        </p:spPr>
        <p:txBody>
          <a:bodyPr wrap="square" lIns="1016" tIns="1016" rIns="1016" bIns="1016"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Key Takeaways
</a:t>
            </a:r>
            <a:endParaRPr lang="en-US" sz="2900" dirty="0"/>
          </a:p>
        </p:txBody>
      </p:sp>
      <p:sp>
        <p:nvSpPr>
          <p:cNvPr id="17" name="Text 1"/>
          <p:cNvSpPr/>
          <p:nvPr/>
        </p:nvSpPr>
        <p:spPr>
          <a:xfrm>
            <a:off x="2285943" y="3418755"/>
            <a:ext cx="7619810" cy="2933627"/>
          </a:xfrm>
          <a:prstGeom prst="rect">
            <a:avLst/>
          </a:prstGeom>
          <a:noFill/>
          <a:ln/>
        </p:spPr>
        <p:txBody>
          <a:bodyPr wrap="square" lIns="1016" tIns="1016" rIns="1016" bIns="1016" rtlCol="0" anchor="t"/>
          <a:lstStyle/>
          <a:p>
            <a:pPr marL="0" indent="0" algn="ctr">
              <a:lnSpc>
                <a:spcPct val="150000"/>
              </a:lnSpc>
              <a:buNone/>
            </a:pPr>
            <a:r>
              <a:rPr lang="en-US" sz="1300" dirty="0">
                <a:solidFill>
                  <a:srgbClr val="B8C5D6"/>
                </a:solidFill>
                <a:latin typeface="Calibri" pitchFamily="34" charset="0"/>
                <a:ea typeface="Calibri" pitchFamily="34" charset="-122"/>
                <a:cs typeface="Calibri" pitchFamily="34" charset="-120"/>
              </a:rPr>
              <a:t>In conclusion, our car price prediction model demonstrates significant accuracy, achieving an R-squared value of 0.85. Key takeaways include the importance of data quality, feature selection, and model validation. For next steps, consider expanding the dataset and exploring advanced algorithms like ensemble methods to enhance predictive performance. This model not only aids buyers and sellers but also sets the stage for future innovations in automotive analytics. Let's drive forward with data-driven decisions.
</a:t>
            </a:r>
            <a:endParaRPr lang="en-US" sz="1300" dirty="0"/>
          </a:p>
        </p:txBody>
      </p:sp>
      <p:sp>
        <p:nvSpPr>
          <p:cNvPr id="18" name="Text 2"/>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TotalTime>
  <Words>1468</Words>
  <Application>Microsoft Office PowerPoint</Application>
  <PresentationFormat>Widescreen</PresentationFormat>
  <Paragraphs>106</Paragraphs>
  <Slides>18</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lohithgowda2004@outlook.com</cp:lastModifiedBy>
  <cp:revision>5</cp:revision>
  <dcterms:created xsi:type="dcterms:W3CDTF">2026-07-17T02:45:20Z</dcterms:created>
  <dcterms:modified xsi:type="dcterms:W3CDTF">2026-07-17T03:01:40Z</dcterms:modified>
</cp:coreProperties>
</file>